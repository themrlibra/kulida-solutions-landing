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0"/>
  </p:normalViewPr>
  <p:slideViewPr>
    <p:cSldViewPr snapToGrid="0" snapToObjects="1">
      <p:cViewPr>
        <p:scale>
          <a:sx n="132" d="100"/>
          <a:sy n="132" d="100"/>
        </p:scale>
        <p:origin x="144" y="-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2937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Představení návrhu interního asistenta pro práci s technickými normami a legislativou.</a:t>
            </a:r>
          </a:p>
          <a:p>
            <a:endParaRPr/>
          </a:p>
          <a:p>
            <a:r>
              <a:t>• Cílem je radikálně zkrátit dobu dohledávání článků a požadavků v ČSN normách a vyhláškách.</a:t>
            </a:r>
          </a:p>
          <a:p>
            <a:endParaRPr/>
          </a:p>
          <a:p>
            <a:r>
              <a:t>• Klíčová hodnota: 100% ověřitelnost odpovědí s odkazem na konkrétní stranu a odstavec.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Zdůrazněte, že systém nehledá jen klíčová slova, ale chápe kontext technického dotazu.</a:t>
            </a:r>
          </a:p>
          <a:p>
            <a:endParaRPr/>
          </a:p>
          <a:p>
            <a:r>
              <a:t>• Náklady na modely jsou minimální ve srovnání s úsporou času inženýrů a projektantů.</a:t>
            </a:r>
          </a:p>
          <a:p>
            <a:endParaRPr/>
          </a:p>
          <a:p>
            <a:r>
              <a:t>• Data norem ani interní know-how se neposílají na veřejný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Ukažte jednoduchost rozhraní: uživatel nepotřebuje žádné školení, ptá se stejně jako v chatu.</a:t>
            </a:r>
          </a:p>
          <a:p>
            <a:endParaRPr/>
          </a:p>
          <a:p>
            <a:r>
              <a:t>• Zdůrazněte náhled originální stránky vedle odpovědi — to je pro inženýry zásadní pro důvěru.</a:t>
            </a:r>
          </a:p>
          <a:p>
            <a:endParaRPr/>
          </a:p>
          <a:p>
            <a:r>
              <a:t>• Model si nevymýšlí: pokud norma danou věc neřeší, asistent to výslovně uvede.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Tento příklad pochází přímo z ukázkových podkladů norem, které jste poskytli.</a:t>
            </a:r>
          </a:p>
          <a:p>
            <a:endParaRPr/>
          </a:p>
          <a:p>
            <a:r>
              <a:t>• Všimněte si, že asistent nevytáhl jen obecné číslo, ale přesně specifikoval podmínky a výjimku pro panelové domy.</a:t>
            </a:r>
          </a:p>
          <a:p>
            <a:endParaRPr/>
          </a:p>
          <a:p>
            <a:r>
              <a:t>• Projektant ušetří 10-15 minut listování v PDF a má jistotu správného řádku v tabulce.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Vysvětlete rozdíl oproti primitivnímu vyhledávači: asistent dělá vícekrokové uvažování.</a:t>
            </a:r>
          </a:p>
          <a:p>
            <a:endParaRPr/>
          </a:p>
          <a:p>
            <a:r>
              <a:t>• Klíčový je krok 2 (lemmatizace - najde 'beton' i 'betonu') a krok 5 (multimodalita pro tabulky).</a:t>
            </a:r>
          </a:p>
          <a:p>
            <a:endParaRPr/>
          </a:p>
          <a:p>
            <a:r>
              <a:t>• Krok 6 zabraňuje tomu, aby inženýr navrhl konstrukci podle neplatné nebo zrušené normy.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Zdůrazněte vazby mezi předpisy: vyhláška často odkazuje na ČSN normu a asistent tuto vazbu umí sledovat.</a:t>
            </a:r>
          </a:p>
          <a:p>
            <a:endParaRPr/>
          </a:p>
          <a:p>
            <a:r>
              <a:t>• Interní dokumenty jsou striktně chráněny — vidí je jen lidé s příslušnými právy v Active Directory.</a:t>
            </a:r>
          </a:p>
          <a:p>
            <a:endParaRPr/>
          </a:p>
          <a:p>
            <a:r>
              <a:t>• Klient tak získá jedno centrální vyhledávací okno pro celou technickou knihovnu firmy.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Vysvětlete, že asistent není uzavřená krabička: umí si sáhnout ven pro čerstvá data.</a:t>
            </a:r>
          </a:p>
          <a:p>
            <a:endParaRPr/>
          </a:p>
          <a:p>
            <a:r>
              <a:t>• Uživatel má vždy kontrolu nad tím, zda se web zapojí.</a:t>
            </a:r>
          </a:p>
          <a:p>
            <a:endParaRPr/>
          </a:p>
          <a:p>
            <a:r>
              <a:t>• Zdůrazněte ochranu soukromí: Brave Search nedostane žádná vaše interní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Vysvětlete, že Varianta A je ideální pro pilot: nevyžaduje nákup GPU a funguje okamžitě na stávající virtualizaci.</a:t>
            </a:r>
          </a:p>
          <a:p>
            <a:endParaRPr/>
          </a:p>
          <a:p>
            <a:r>
              <a:t>• Varianta B je k dispozici pro klienty s nejpřísnějšími bezpečnostními požadavky.</a:t>
            </a:r>
          </a:p>
          <a:p>
            <a:endParaRPr/>
          </a:p>
          <a:p>
            <a:r>
              <a:t>• Obě varianty garantují, že celá databáze leží u klienta na Linuxu v Dockeru.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Zdůrazněte, že pro pilot není nutné kupovat žádný hardware — postačí volná kapacita na stávajícím ESXi / Proxmoxu.</a:t>
            </a:r>
          </a:p>
          <a:p>
            <a:endParaRPr/>
          </a:p>
          <a:p>
            <a:r>
              <a:t>• Index pro 200 tisíc stran zabere překvapivě málo místa (jen 5-10 GB databáze, 50 GB náhledy).</a:t>
            </a:r>
          </a:p>
          <a:p>
            <a:endParaRPr/>
          </a:p>
          <a:p>
            <a:r>
              <a:t>• Systém zvládne i ranní špičku nebo uzávěrku velkého projektu.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dirty="0" err="1"/>
              <a:t>Vysvětlete</a:t>
            </a:r>
            <a:r>
              <a:rPr dirty="0"/>
              <a:t>, </a:t>
            </a:r>
            <a:r>
              <a:rPr dirty="0" err="1"/>
              <a:t>proč</a:t>
            </a:r>
            <a:r>
              <a:rPr dirty="0"/>
              <a:t> je to </a:t>
            </a:r>
            <a:r>
              <a:rPr dirty="0" err="1"/>
              <a:t>tak</a:t>
            </a:r>
            <a:r>
              <a:rPr dirty="0"/>
              <a:t> </a:t>
            </a:r>
            <a:r>
              <a:rPr dirty="0" err="1"/>
              <a:t>levné</a:t>
            </a:r>
            <a:r>
              <a:rPr dirty="0"/>
              <a:t>: </a:t>
            </a:r>
            <a:r>
              <a:rPr dirty="0" err="1"/>
              <a:t>optimalizace</a:t>
            </a:r>
            <a:r>
              <a:rPr dirty="0"/>
              <a:t> </a:t>
            </a:r>
            <a:r>
              <a:rPr dirty="0" err="1"/>
              <a:t>tokenů</a:t>
            </a:r>
            <a:r>
              <a:rPr dirty="0"/>
              <a:t> a context caching </a:t>
            </a:r>
            <a:r>
              <a:rPr dirty="0" err="1"/>
              <a:t>sráží</a:t>
            </a:r>
            <a:r>
              <a:rPr dirty="0"/>
              <a:t> </a:t>
            </a:r>
            <a:r>
              <a:rPr dirty="0" err="1"/>
              <a:t>náklady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minimum.</a:t>
            </a:r>
          </a:p>
          <a:p>
            <a:endParaRPr dirty="0"/>
          </a:p>
          <a:p>
            <a:r>
              <a:rPr dirty="0"/>
              <a:t>• Pro 40 </a:t>
            </a:r>
            <a:r>
              <a:rPr dirty="0" err="1"/>
              <a:t>lidí</a:t>
            </a:r>
            <a:r>
              <a:rPr dirty="0"/>
              <a:t> je </a:t>
            </a:r>
            <a:r>
              <a:rPr dirty="0" err="1"/>
              <a:t>částka</a:t>
            </a:r>
            <a:r>
              <a:rPr dirty="0"/>
              <a:t> 4-6 tis. </a:t>
            </a:r>
            <a:r>
              <a:rPr dirty="0" err="1"/>
              <a:t>Kč</a:t>
            </a:r>
            <a:r>
              <a:rPr dirty="0"/>
              <a:t> </a:t>
            </a:r>
            <a:r>
              <a:rPr dirty="0" err="1"/>
              <a:t>měsíčně</a:t>
            </a:r>
            <a:r>
              <a:rPr dirty="0"/>
              <a:t> v </a:t>
            </a:r>
            <a:r>
              <a:rPr dirty="0" err="1"/>
              <a:t>kontextu</a:t>
            </a:r>
            <a:r>
              <a:rPr dirty="0"/>
              <a:t> </a:t>
            </a:r>
            <a:r>
              <a:rPr dirty="0" err="1"/>
              <a:t>inženýrských</a:t>
            </a:r>
            <a:r>
              <a:rPr dirty="0"/>
              <a:t> </a:t>
            </a:r>
            <a:r>
              <a:rPr dirty="0" err="1"/>
              <a:t>mezd</a:t>
            </a:r>
            <a:r>
              <a:rPr dirty="0"/>
              <a:t> </a:t>
            </a:r>
            <a:r>
              <a:rPr dirty="0" err="1"/>
              <a:t>zanedbatelná</a:t>
            </a:r>
            <a:r>
              <a:rPr dirty="0"/>
              <a:t> (</a:t>
            </a:r>
            <a:r>
              <a:rPr dirty="0" err="1"/>
              <a:t>odpovídá</a:t>
            </a:r>
            <a:r>
              <a:rPr dirty="0"/>
              <a:t> </a:t>
            </a:r>
            <a:r>
              <a:rPr dirty="0" err="1"/>
              <a:t>cca</a:t>
            </a:r>
            <a:r>
              <a:rPr dirty="0"/>
              <a:t> 2-3 </a:t>
            </a:r>
            <a:r>
              <a:rPr dirty="0" err="1"/>
              <a:t>hodinám</a:t>
            </a:r>
            <a:r>
              <a:rPr dirty="0"/>
              <a:t> </a:t>
            </a:r>
            <a:r>
              <a:rPr dirty="0" err="1"/>
              <a:t>práce</a:t>
            </a:r>
            <a:r>
              <a:rPr dirty="0"/>
              <a:t> </a:t>
            </a:r>
            <a:r>
              <a:rPr dirty="0" err="1"/>
              <a:t>jednoho</a:t>
            </a:r>
            <a:r>
              <a:rPr dirty="0"/>
              <a:t> </a:t>
            </a:r>
            <a:r>
              <a:rPr dirty="0" err="1"/>
              <a:t>projektanta</a:t>
            </a:r>
            <a:r>
              <a:rPr dirty="0"/>
              <a:t>).</a:t>
            </a:r>
          </a:p>
          <a:p>
            <a:endParaRPr dirty="0"/>
          </a:p>
          <a:p>
            <a:r>
              <a:rPr dirty="0"/>
              <a:t>• </a:t>
            </a:r>
            <a:r>
              <a:rPr dirty="0" err="1"/>
              <a:t>Útratu</a:t>
            </a:r>
            <a:r>
              <a:rPr dirty="0"/>
              <a:t> </a:t>
            </a:r>
            <a:r>
              <a:rPr dirty="0" err="1"/>
              <a:t>lze</a:t>
            </a:r>
            <a:r>
              <a:rPr dirty="0"/>
              <a:t> </a:t>
            </a:r>
            <a:r>
              <a:rPr dirty="0" err="1"/>
              <a:t>navíc</a:t>
            </a:r>
            <a:r>
              <a:rPr dirty="0"/>
              <a:t> </a:t>
            </a:r>
            <a:r>
              <a:rPr dirty="0" err="1"/>
              <a:t>snadno</a:t>
            </a:r>
            <a:r>
              <a:rPr dirty="0"/>
              <a:t> </a:t>
            </a:r>
            <a:r>
              <a:rPr dirty="0" err="1"/>
              <a:t>zastropovat</a:t>
            </a:r>
            <a:r>
              <a:rPr dirty="0"/>
              <a:t> </a:t>
            </a:r>
            <a:r>
              <a:rPr dirty="0" err="1"/>
              <a:t>měsíčním</a:t>
            </a:r>
            <a:r>
              <a:rPr dirty="0"/>
              <a:t> </a:t>
            </a:r>
            <a:r>
              <a:rPr dirty="0" err="1"/>
              <a:t>limitem</a:t>
            </a:r>
            <a:r>
              <a:rPr dirty="0"/>
              <a:t> s </a:t>
            </a:r>
            <a:r>
              <a:rPr dirty="0" err="1"/>
              <a:t>automatickým</a:t>
            </a:r>
            <a:r>
              <a:rPr dirty="0"/>
              <a:t> </a:t>
            </a:r>
            <a:r>
              <a:rPr dirty="0" err="1"/>
              <a:t>upozorněním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Pilot je navržen tak, aby vedení firmy mohlo rozhodnout na základě reálných čísel a spokojenosti lidí.</a:t>
            </a:r>
          </a:p>
          <a:p>
            <a:endParaRPr/>
          </a:p>
          <a:p>
            <a:r>
              <a:t>• Pokud se pilotu zúčastní menší testovací skupina (např. 10 lidí), náklady na modely klesnou na cca 1,5 tis. Kč.</a:t>
            </a:r>
          </a:p>
          <a:p>
            <a:endParaRPr/>
          </a:p>
          <a:p>
            <a:r>
              <a:t>• Ukázka jasné ekonomické návratnosti.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Shrnutí pro závěrečnou diskusi: domluva na výběru 100-200 pilotních norem.</a:t>
            </a:r>
          </a:p>
          <a:p>
            <a:endParaRPr/>
          </a:p>
          <a:p>
            <a:r>
              <a:t>• Příprava 20-30 kontrolních otázek, na kterých společně ověříme přesnost.</a:t>
            </a:r>
          </a:p>
          <a:p>
            <a:endParaRPr/>
          </a:p>
          <a:p>
            <a:r>
              <a:t>• Prostor pro dotazy technického ředitele a IT týmu.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3706B"/>
                </a:solidFill>
                <a:latin typeface="Courier New"/>
              </a:defRPr>
            </a:pPr>
            <a:r>
              <a:t>[ KULIDA ]   /   [ TECHNICKÝ NÁVRH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73706B"/>
                </a:solidFill>
                <a:latin typeface="Courier New"/>
              </a:defRPr>
            </a:pPr>
            <a:r>
              <a:t>SLIDE 01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49808"/>
            <a:ext cx="10728655" cy="13716"/>
          </a:xfrm>
          <a:prstGeom prst="rect">
            <a:avLst/>
          </a:prstGeom>
          <a:solidFill>
            <a:srgbClr val="E6E4DF"/>
          </a:solidFill>
          <a:ln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6E4DF"/>
          </a:solidFill>
          <a:ln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706B"/>
                </a:solidFill>
                <a:latin typeface="Courier New"/>
              </a:defRPr>
            </a:pPr>
            <a:r>
              <a:t>KULIDA – AI asistent pro normy a předpisy   •   Technický návrh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72865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11827"/>
                </a:solidFill>
                <a:latin typeface="Helvetica"/>
              </a:defRPr>
            </a:pPr>
            <a:r>
              <a:rPr dirty="0"/>
              <a:t>KULIDA – AI </a:t>
            </a:r>
            <a:r>
              <a:rPr dirty="0" err="1"/>
              <a:t>asistent</a:t>
            </a:r>
            <a:r>
              <a:rPr dirty="0"/>
              <a:t> pro </a:t>
            </a:r>
            <a:r>
              <a:rPr dirty="0" err="1"/>
              <a:t>normy</a:t>
            </a:r>
            <a:r>
              <a:rPr dirty="0"/>
              <a:t> a </a:t>
            </a:r>
            <a:r>
              <a:rPr dirty="0" err="1"/>
              <a:t>předpisy</a:t>
            </a:r>
            <a:endParaRPr dirty="0"/>
          </a:p>
          <a:p>
            <a:pPr>
              <a:defRPr sz="2000">
                <a:solidFill>
                  <a:srgbClr val="4B5563"/>
                </a:solidFill>
                <a:latin typeface="Helvetica"/>
              </a:defRPr>
            </a:pPr>
            <a:r>
              <a:rPr dirty="0" err="1"/>
              <a:t>Odpovědi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dotazy</a:t>
            </a:r>
            <a:r>
              <a:rPr dirty="0"/>
              <a:t> </a:t>
            </a:r>
            <a:r>
              <a:rPr dirty="0" err="1"/>
              <a:t>nad</a:t>
            </a:r>
            <a:r>
              <a:rPr dirty="0"/>
              <a:t> </a:t>
            </a:r>
            <a:r>
              <a:rPr dirty="0" err="1"/>
              <a:t>normami</a:t>
            </a:r>
            <a:r>
              <a:rPr dirty="0"/>
              <a:t>, </a:t>
            </a:r>
            <a:r>
              <a:rPr dirty="0" err="1"/>
              <a:t>legislativou</a:t>
            </a:r>
            <a:r>
              <a:rPr dirty="0"/>
              <a:t> a </a:t>
            </a:r>
            <a:r>
              <a:rPr dirty="0" err="1"/>
              <a:t>interními</a:t>
            </a:r>
            <a:r>
              <a:rPr dirty="0"/>
              <a:t> </a:t>
            </a:r>
            <a:r>
              <a:rPr dirty="0" err="1"/>
              <a:t>dokumenty</a:t>
            </a:r>
            <a:r>
              <a:rPr dirty="0"/>
              <a:t> s </a:t>
            </a:r>
            <a:r>
              <a:rPr dirty="0" err="1"/>
              <a:t>přesnou</a:t>
            </a:r>
            <a:r>
              <a:rPr dirty="0"/>
              <a:t> </a:t>
            </a:r>
            <a:r>
              <a:rPr dirty="0" err="1"/>
              <a:t>citací</a:t>
            </a:r>
            <a:r>
              <a:rPr dirty="0"/>
              <a:t>.</a:t>
            </a:r>
          </a:p>
          <a:p>
            <a:pPr>
              <a:spcBef>
                <a:spcPts val="1200"/>
              </a:spcBef>
              <a:defRPr sz="1300">
                <a:solidFill>
                  <a:srgbClr val="4B5563"/>
                </a:solidFill>
                <a:latin typeface="Helvetica"/>
              </a:defRPr>
            </a:pPr>
            <a:r>
              <a:rPr dirty="0" err="1"/>
              <a:t>Interní</a:t>
            </a:r>
            <a:r>
              <a:rPr dirty="0"/>
              <a:t> AI </a:t>
            </a:r>
            <a:r>
              <a:rPr dirty="0" err="1"/>
              <a:t>asistent</a:t>
            </a:r>
            <a:r>
              <a:rPr dirty="0"/>
              <a:t> pro </a:t>
            </a:r>
            <a:r>
              <a:rPr dirty="0" err="1"/>
              <a:t>projektanty</a:t>
            </a:r>
            <a:r>
              <a:rPr dirty="0"/>
              <a:t> a </a:t>
            </a:r>
            <a:r>
              <a:rPr dirty="0" err="1"/>
              <a:t>inženýry</a:t>
            </a:r>
            <a:r>
              <a:rPr dirty="0"/>
              <a:t>: </a:t>
            </a:r>
            <a:r>
              <a:rPr dirty="0" err="1"/>
              <a:t>aplikace</a:t>
            </a:r>
            <a:r>
              <a:rPr dirty="0"/>
              <a:t> </a:t>
            </a:r>
            <a:r>
              <a:rPr dirty="0" err="1"/>
              <a:t>běží</a:t>
            </a:r>
            <a:r>
              <a:rPr dirty="0"/>
              <a:t> u </a:t>
            </a:r>
            <a:r>
              <a:rPr dirty="0" err="1"/>
              <a:t>vás</a:t>
            </a:r>
            <a:r>
              <a:rPr dirty="0"/>
              <a:t>, model se </a:t>
            </a:r>
            <a:r>
              <a:rPr dirty="0" err="1"/>
              <a:t>volá</a:t>
            </a:r>
            <a:r>
              <a:rPr dirty="0"/>
              <a:t> </a:t>
            </a:r>
            <a:r>
              <a:rPr dirty="0" err="1"/>
              <a:t>přes</a:t>
            </a:r>
            <a:r>
              <a:rPr dirty="0"/>
              <a:t> </a:t>
            </a:r>
            <a:r>
              <a:rPr dirty="0" err="1"/>
              <a:t>zabezpečené</a:t>
            </a:r>
            <a:r>
              <a:rPr dirty="0"/>
              <a:t> API, </a:t>
            </a:r>
            <a:r>
              <a:rPr dirty="0" err="1"/>
              <a:t>každá</a:t>
            </a:r>
            <a:r>
              <a:rPr dirty="0"/>
              <a:t> </a:t>
            </a:r>
            <a:r>
              <a:rPr dirty="0" err="1"/>
              <a:t>odpověď</a:t>
            </a:r>
            <a:r>
              <a:rPr dirty="0"/>
              <a:t> </a:t>
            </a:r>
            <a:r>
              <a:rPr dirty="0" err="1"/>
              <a:t>odkazuje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originální</a:t>
            </a:r>
            <a:r>
              <a:rPr dirty="0"/>
              <a:t> </a:t>
            </a:r>
            <a:r>
              <a:rPr dirty="0" err="1"/>
              <a:t>stranu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16385" y="5428022"/>
            <a:ext cx="795923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11827"/>
                </a:solidFill>
                <a:latin typeface="Courier New"/>
              </a:defRPr>
            </a:pPr>
            <a:r>
              <a:rPr dirty="0"/>
              <a:t>DOKUMENT: </a:t>
            </a:r>
            <a:r>
              <a:rPr dirty="0" err="1"/>
              <a:t>Technický</a:t>
            </a:r>
            <a:r>
              <a:rPr dirty="0"/>
              <a:t> </a:t>
            </a:r>
            <a:r>
              <a:rPr dirty="0" err="1"/>
              <a:t>návrh</a:t>
            </a:r>
            <a:r>
              <a:rPr dirty="0"/>
              <a:t> </a:t>
            </a:r>
            <a:r>
              <a:rPr dirty="0" err="1"/>
              <a:t>řešení</a:t>
            </a:r>
            <a:r>
              <a:rPr dirty="0"/>
              <a:t>   |   ROZSAH: 40 </a:t>
            </a:r>
            <a:r>
              <a:rPr dirty="0" err="1"/>
              <a:t>uživatelů</a:t>
            </a:r>
            <a:r>
              <a:rPr dirty="0"/>
              <a:t>   |   MODEL: RAG s </a:t>
            </a:r>
            <a:r>
              <a:rPr dirty="0" err="1"/>
              <a:t>citacemi</a:t>
            </a:r>
            <a:r>
              <a:rPr dirty="0"/>
              <a:t> </a:t>
            </a:r>
            <a:r>
              <a:rPr dirty="0" err="1"/>
              <a:t>originálu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3706B"/>
                </a:solidFill>
                <a:latin typeface="Courier New"/>
              </a:defRPr>
            </a:pPr>
            <a:r>
              <a:t>[ KULIDA ]   /   [ SHRNUTÍ ŘEŠENÍ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73706B"/>
                </a:solidFill>
                <a:latin typeface="Courier New"/>
              </a:defRPr>
            </a:pPr>
            <a:r>
              <a:t>SLIDE 02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49808"/>
            <a:ext cx="10728655" cy="13716"/>
          </a:xfrm>
          <a:prstGeom prst="rect">
            <a:avLst/>
          </a:prstGeom>
          <a:solidFill>
            <a:srgbClr val="E6E4DF"/>
          </a:solidFill>
          <a:ln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6E4DF"/>
          </a:solidFill>
          <a:ln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706B"/>
                </a:solidFill>
                <a:latin typeface="Courier New"/>
              </a:defRPr>
            </a:pPr>
            <a:r>
              <a:t>KULIDA – AI asistent pro normy a předpisy   •   Technický návrh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Helvetica"/>
              </a:defRPr>
            </a:pPr>
            <a:r>
              <a:t>Shrnutí technického návrhu</a:t>
            </a:r>
          </a:p>
          <a:p>
            <a:pPr>
              <a:defRPr sz="1300">
                <a:solidFill>
                  <a:srgbClr val="4B5563"/>
                </a:solidFill>
                <a:latin typeface="Helvetica"/>
              </a:defRPr>
            </a:pPr>
            <a:r>
              <a:t>Interní AI asistent, který odpovídá nad vašimi normami a legislativou a u každé odpovědi ukáže přesný zdroj.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2560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73706B"/>
                </a:solidFill>
                <a:latin typeface="Courier New"/>
              </a:defRPr>
            </a:pPr>
            <a:r>
              <a:t>01 / JAZYK</a:t>
            </a:r>
          </a:p>
          <a:p>
            <a:pPr>
              <a:defRPr sz="1400" b="1">
                <a:solidFill>
                  <a:srgbClr val="111827"/>
                </a:solidFill>
                <a:latin typeface="Helvetica"/>
              </a:defRPr>
            </a:pPr>
            <a:r>
              <a:t>Ptáte se běžnou češtinou</a:t>
            </a:r>
          </a:p>
          <a:p>
            <a:pPr>
              <a:spcBef>
                <a:spcPts val="800"/>
              </a:spcBef>
              <a:defRPr sz="1050">
                <a:solidFill>
                  <a:srgbClr val="4B5563"/>
                </a:solidFill>
                <a:latin typeface="Helvetica"/>
              </a:defRPr>
            </a:pPr>
            <a:r>
              <a:t>Jako zkušeného kolegy. Asistent sám dohledá správné dokumenty, články a související změny.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920240"/>
            <a:ext cx="2560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9312" y="20574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73706B"/>
                </a:solidFill>
                <a:latin typeface="Courier New"/>
              </a:defRPr>
            </a:pPr>
            <a:r>
              <a:t>02 / CITACE</a:t>
            </a:r>
          </a:p>
          <a:p>
            <a:pPr>
              <a:defRPr sz="1400" b="1">
                <a:solidFill>
                  <a:srgbClr val="111827"/>
                </a:solidFill>
                <a:latin typeface="Helvetica"/>
              </a:defRPr>
            </a:pPr>
            <a:r>
              <a:t>Každá odpověď má citaci</a:t>
            </a:r>
          </a:p>
          <a:p>
            <a:pPr>
              <a:spcBef>
                <a:spcPts val="800"/>
              </a:spcBef>
              <a:defRPr sz="1050">
                <a:solidFill>
                  <a:srgbClr val="4B5563"/>
                </a:solidFill>
                <a:latin typeface="Helvetica"/>
              </a:defRPr>
            </a:pPr>
            <a:r>
              <a:t>Přesný dokument, článek / paragraf a strana. Na jedno kliknutí se otevře náhled originální stránky.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920240"/>
            <a:ext cx="2560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20574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73706B"/>
                </a:solidFill>
                <a:latin typeface="Courier New"/>
              </a:defRPr>
            </a:pPr>
            <a:r>
              <a:t>03 / ZDROJE</a:t>
            </a:r>
          </a:p>
          <a:p>
            <a:pPr>
              <a:defRPr sz="1400" b="1">
                <a:solidFill>
                  <a:srgbClr val="111827"/>
                </a:solidFill>
                <a:latin typeface="Helvetica"/>
              </a:defRPr>
            </a:pPr>
            <a:r>
              <a:t>Hledá všude, kde je třeba</a:t>
            </a:r>
          </a:p>
          <a:p>
            <a:pPr>
              <a:spcBef>
                <a:spcPts val="800"/>
              </a:spcBef>
              <a:defRPr sz="1050">
                <a:solidFill>
                  <a:srgbClr val="4B5563"/>
                </a:solidFill>
                <a:latin typeface="Helvetica"/>
              </a:defRPr>
            </a:pPr>
            <a:r>
              <a:t>Normy ČSN, zákony a vyhlášky (e-Sbírka), interní postupy a směrnice, volitelně i oficiální web.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920240"/>
            <a:ext cx="2560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89136" y="20574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73706B"/>
                </a:solidFill>
                <a:latin typeface="Courier New"/>
              </a:defRPr>
            </a:pPr>
            <a:r>
              <a:t>04 / BEZPEČNOST</a:t>
            </a:r>
          </a:p>
          <a:p>
            <a:pPr>
              <a:defRPr sz="1400" b="1">
                <a:solidFill>
                  <a:srgbClr val="111827"/>
                </a:solidFill>
                <a:latin typeface="Helvetica"/>
              </a:defRPr>
            </a:pPr>
            <a:r>
              <a:t>Aplikace a data běží u vás</a:t>
            </a:r>
          </a:p>
          <a:p>
            <a:pPr>
              <a:spcBef>
                <a:spcPts val="800"/>
              </a:spcBef>
              <a:defRPr sz="1050">
                <a:solidFill>
                  <a:srgbClr val="4B5563"/>
                </a:solidFill>
                <a:latin typeface="Helvetica"/>
              </a:defRPr>
            </a:pPr>
            <a:r>
              <a:t>Dokumenty a index neopouštějí váš server. LLM se volá přes API (Azure, AWS, GCP) a platí se podle využití.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74920"/>
            <a:ext cx="10728655" cy="960120"/>
          </a:xfrm>
          <a:prstGeom prst="roundRect">
            <a:avLst/>
          </a:prstGeom>
          <a:solidFill>
            <a:srgbClr val="0D0D0C"/>
          </a:solidFill>
          <a:ln w="12700">
            <a:solidFill>
              <a:srgbClr val="0D0D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193792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Courier New"/>
              </a:defRPr>
            </a:pPr>
            <a:r>
              <a:t>PROVOZNÍ NÁKLADY PRO 40 LIDÍ:</a:t>
            </a:r>
          </a:p>
          <a:p>
            <a:pPr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Měsíčně 1,4–12 tis. Kč za modely (střední scénář 4–6 tis. Kč). Jeden dotaz vychází na cca 0,3–0,5 Kč v pilotu i v plném provozu.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3706B"/>
                </a:solidFill>
                <a:latin typeface="Courier New"/>
              </a:defRPr>
            </a:pPr>
            <a:r>
              <a:t>[ KULIDA ]   /   [ UŽIVATELSKÉ ROZHRANÍ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73706B"/>
                </a:solidFill>
                <a:latin typeface="Courier New"/>
              </a:defRPr>
            </a:pPr>
            <a:r>
              <a:t>SLIDE 03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49808"/>
            <a:ext cx="10728655" cy="13716"/>
          </a:xfrm>
          <a:prstGeom prst="rect">
            <a:avLst/>
          </a:prstGeom>
          <a:solidFill>
            <a:srgbClr val="E6E4DF"/>
          </a:solidFill>
          <a:ln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6E4DF"/>
          </a:solidFill>
          <a:ln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706B"/>
                </a:solidFill>
                <a:latin typeface="Courier New"/>
              </a:defRPr>
            </a:pPr>
            <a:r>
              <a:t>KULIDA – AI asistent pro normy a předpisy   •   Technický návrh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Helvetica"/>
              </a:defRPr>
            </a:pPr>
            <a:r>
              <a:t>Jak s asistentem budete pracovat</a:t>
            </a:r>
          </a:p>
          <a:p>
            <a:pPr>
              <a:defRPr sz="1300">
                <a:solidFill>
                  <a:srgbClr val="4B5563"/>
                </a:solidFill>
                <a:latin typeface="Helvetica"/>
              </a:defRPr>
            </a:pPr>
            <a:r>
              <a:t>Přehledná webová aplikace: okno pro dotaz, odpověď s citacemi a vedle ní originální stránka dokumentu.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20574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148840"/>
            <a:ext cx="1728216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3706B"/>
                </a:solidFill>
                <a:latin typeface="Courier New"/>
              </a:defRPr>
            </a:pPr>
            <a:r>
              <a:rPr lang="cs-CZ" noProof="0" dirty="0"/>
              <a:t>KROK 01</a:t>
            </a:r>
          </a:p>
          <a:p>
            <a:pPr>
              <a:defRPr sz="1350" b="1">
                <a:solidFill>
                  <a:srgbClr val="111827"/>
                </a:solidFill>
                <a:latin typeface="Helvetica"/>
              </a:defRPr>
            </a:pPr>
            <a:r>
              <a:rPr lang="cs-CZ" noProof="0" dirty="0"/>
              <a:t>Přihlášení</a:t>
            </a:r>
          </a:p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  <a:defRPr sz="1000">
                <a:solidFill>
                  <a:srgbClr val="4B5563"/>
                </a:solidFill>
                <a:latin typeface="Helvetica"/>
              </a:defRPr>
            </a:pPr>
            <a:r>
              <a:rPr lang="cs-CZ" sz="1100" noProof="0" dirty="0"/>
              <a:t>V prohlížeči přes firemní účet (SSO / Microsoft 365) nebo s účtem pouze pro aplikaci. </a:t>
            </a:r>
          </a:p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  <a:defRPr sz="1000">
                <a:solidFill>
                  <a:srgbClr val="4B5563"/>
                </a:solidFill>
                <a:latin typeface="Helvetica"/>
              </a:defRPr>
            </a:pPr>
            <a:r>
              <a:rPr lang="cs-CZ" sz="1100" noProof="0" dirty="0"/>
              <a:t>Na počítačích se nic neinstaluje.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2011680"/>
            <a:ext cx="20574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72383" y="2148840"/>
            <a:ext cx="1728216" cy="1667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3706B"/>
                </a:solidFill>
                <a:latin typeface="Courier New"/>
              </a:defRPr>
            </a:pPr>
            <a:r>
              <a:rPr lang="cs-CZ" noProof="0" dirty="0"/>
              <a:t>KROK 02</a:t>
            </a:r>
          </a:p>
          <a:p>
            <a:pPr>
              <a:defRPr sz="1350" b="1">
                <a:solidFill>
                  <a:srgbClr val="111827"/>
                </a:solidFill>
                <a:latin typeface="Helvetica"/>
              </a:defRPr>
            </a:pPr>
            <a:r>
              <a:rPr lang="cs-CZ" noProof="0" dirty="0"/>
              <a:t>Dotaz</a:t>
            </a:r>
          </a:p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  <a:defRPr sz="1000">
                <a:solidFill>
                  <a:srgbClr val="4B5563"/>
                </a:solidFill>
                <a:latin typeface="Helvetica"/>
              </a:defRPr>
            </a:pPr>
            <a:r>
              <a:rPr lang="cs-CZ" sz="1100" noProof="0" dirty="0"/>
              <a:t>Otázka vlastními slovy. </a:t>
            </a:r>
          </a:p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  <a:defRPr sz="1000">
                <a:solidFill>
                  <a:srgbClr val="4B5563"/>
                </a:solidFill>
                <a:latin typeface="Helvetica"/>
              </a:defRPr>
            </a:pPr>
            <a:r>
              <a:rPr lang="cs-CZ" sz="1100" noProof="0" dirty="0"/>
              <a:t>Možnost omezit hledání jen na normy, legislativu či konkrétní normu.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2011680"/>
            <a:ext cx="20574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48656" y="2148840"/>
            <a:ext cx="1728216" cy="139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3706B"/>
                </a:solidFill>
                <a:latin typeface="Courier New"/>
              </a:defRPr>
            </a:pPr>
            <a:r>
              <a:rPr lang="cs-CZ" noProof="0" dirty="0"/>
              <a:t>KROK 03</a:t>
            </a:r>
          </a:p>
          <a:p>
            <a:pPr>
              <a:defRPr sz="1350" b="1">
                <a:solidFill>
                  <a:srgbClr val="111827"/>
                </a:solidFill>
                <a:latin typeface="Helvetica"/>
              </a:defRPr>
            </a:pPr>
            <a:r>
              <a:rPr lang="cs-CZ" noProof="0" dirty="0"/>
              <a:t>Průběh</a:t>
            </a:r>
          </a:p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  <a:defRPr sz="1000">
                <a:solidFill>
                  <a:srgbClr val="4B5563"/>
                </a:solidFill>
                <a:latin typeface="Helvetica"/>
              </a:defRPr>
            </a:pPr>
            <a:r>
              <a:rPr lang="cs-CZ" sz="1100" noProof="0" dirty="0"/>
              <a:t>Transparentní kroky v reálném čase: „Hledám v ČSN 73 0532…“, „Otevírám tabulku 1…“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2011680"/>
            <a:ext cx="20574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24928" y="2148840"/>
            <a:ext cx="1728216" cy="1667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3706B"/>
                </a:solidFill>
                <a:latin typeface="Courier New"/>
              </a:defRPr>
            </a:pPr>
            <a:r>
              <a:rPr lang="cs-CZ" noProof="0" dirty="0"/>
              <a:t>KROK 04</a:t>
            </a:r>
          </a:p>
          <a:p>
            <a:pPr>
              <a:defRPr sz="1350" b="1">
                <a:solidFill>
                  <a:srgbClr val="111827"/>
                </a:solidFill>
                <a:latin typeface="Helvetica"/>
              </a:defRPr>
            </a:pPr>
            <a:r>
              <a:rPr lang="cs-CZ" noProof="0" dirty="0"/>
              <a:t>Odpověď s citací</a:t>
            </a:r>
          </a:p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  <a:defRPr sz="1000">
                <a:solidFill>
                  <a:srgbClr val="4B5563"/>
                </a:solidFill>
                <a:latin typeface="Helvetica"/>
              </a:defRPr>
            </a:pPr>
            <a:r>
              <a:rPr lang="cs-CZ" sz="1100" noProof="0" dirty="0"/>
              <a:t>Každé tvrzení odkazuje na článek a stranu. </a:t>
            </a:r>
          </a:p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  <a:defRPr sz="1000">
                <a:solidFill>
                  <a:srgbClr val="4B5563"/>
                </a:solidFill>
                <a:latin typeface="Helvetica"/>
              </a:defRPr>
            </a:pPr>
            <a:r>
              <a:rPr lang="cs-CZ" sz="1100" noProof="0" dirty="0"/>
              <a:t>Kliknutím se otevře originál se zvýrazněným místem.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2011680"/>
            <a:ext cx="20574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0" y="2148840"/>
            <a:ext cx="1728216" cy="139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3706B"/>
                </a:solidFill>
                <a:latin typeface="Courier New"/>
              </a:defRPr>
            </a:pPr>
            <a:r>
              <a:rPr lang="cs-CZ" noProof="0" dirty="0"/>
              <a:t>KROK 05</a:t>
            </a:r>
          </a:p>
          <a:p>
            <a:pPr>
              <a:defRPr sz="1350" b="1">
                <a:solidFill>
                  <a:srgbClr val="111827"/>
                </a:solidFill>
                <a:latin typeface="Helvetica"/>
              </a:defRPr>
            </a:pPr>
            <a:r>
              <a:rPr lang="cs-CZ" noProof="0" dirty="0"/>
              <a:t>Navazující dotazy</a:t>
            </a:r>
          </a:p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  <a:defRPr sz="1000">
                <a:solidFill>
                  <a:srgbClr val="4B5563"/>
                </a:solidFill>
                <a:latin typeface="Helvetica"/>
              </a:defRPr>
            </a:pPr>
            <a:r>
              <a:rPr lang="cs-CZ" sz="1100" noProof="0" dirty="0"/>
              <a:t>Uživatel se může dále doptat, odpověď zkopírovat i s citacemi a ohodnotit její správnost.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5394960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1827"/>
                </a:solidFill>
                <a:latin typeface="Helvetica"/>
              </a:defRPr>
            </a:pPr>
            <a:r>
              <a:rPr dirty="0"/>
              <a:t>✓ ZÁSADA TRANSPARENTNOSTI: </a:t>
            </a:r>
            <a:r>
              <a:rPr dirty="0" err="1"/>
              <a:t>Když</a:t>
            </a:r>
            <a:r>
              <a:rPr dirty="0"/>
              <a:t> </a:t>
            </a:r>
            <a:r>
              <a:rPr dirty="0" err="1"/>
              <a:t>odpověď</a:t>
            </a:r>
            <a:r>
              <a:rPr dirty="0"/>
              <a:t> v </a:t>
            </a:r>
            <a:r>
              <a:rPr dirty="0" err="1"/>
              <a:t>dokumentech</a:t>
            </a:r>
            <a:r>
              <a:rPr dirty="0"/>
              <a:t> </a:t>
            </a:r>
            <a:r>
              <a:rPr dirty="0" err="1"/>
              <a:t>není</a:t>
            </a:r>
            <a:r>
              <a:rPr dirty="0"/>
              <a:t>, </a:t>
            </a:r>
            <a:r>
              <a:rPr dirty="0" err="1"/>
              <a:t>asistent</a:t>
            </a:r>
            <a:r>
              <a:rPr dirty="0"/>
              <a:t> to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rovinu</a:t>
            </a:r>
            <a:r>
              <a:rPr dirty="0"/>
              <a:t> </a:t>
            </a:r>
            <a:r>
              <a:rPr dirty="0" err="1"/>
              <a:t>řekne</a:t>
            </a:r>
            <a:r>
              <a:rPr dirty="0"/>
              <a:t>, </a:t>
            </a:r>
            <a:r>
              <a:rPr dirty="0" err="1"/>
              <a:t>místo</a:t>
            </a:r>
            <a:r>
              <a:rPr dirty="0"/>
              <a:t> aby </a:t>
            </a:r>
            <a:r>
              <a:rPr dirty="0" err="1"/>
              <a:t>si</a:t>
            </a:r>
            <a:r>
              <a:rPr dirty="0"/>
              <a:t> ji </a:t>
            </a:r>
            <a:r>
              <a:rPr dirty="0" err="1"/>
              <a:t>domyslel</a:t>
            </a:r>
            <a:r>
              <a:rPr dirty="0"/>
              <a:t>. </a:t>
            </a:r>
            <a:r>
              <a:rPr dirty="0" err="1"/>
              <a:t>Odpovědnost</a:t>
            </a:r>
            <a:r>
              <a:rPr dirty="0"/>
              <a:t> za </a:t>
            </a:r>
            <a:r>
              <a:rPr dirty="0" err="1"/>
              <a:t>návrh</a:t>
            </a:r>
            <a:r>
              <a:rPr dirty="0"/>
              <a:t> </a:t>
            </a:r>
            <a:r>
              <a:rPr dirty="0" err="1"/>
              <a:t>zůstává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projektantovi</a:t>
            </a:r>
            <a:r>
              <a:rPr dirty="0"/>
              <a:t> — </a:t>
            </a:r>
            <a:r>
              <a:rPr dirty="0" err="1"/>
              <a:t>zdroj</a:t>
            </a:r>
            <a:r>
              <a:rPr dirty="0"/>
              <a:t> </a:t>
            </a:r>
            <a:r>
              <a:rPr dirty="0" err="1"/>
              <a:t>má</a:t>
            </a:r>
            <a:r>
              <a:rPr dirty="0"/>
              <a:t> </a:t>
            </a:r>
            <a:r>
              <a:rPr dirty="0" err="1"/>
              <a:t>vždy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jedno</a:t>
            </a:r>
            <a:r>
              <a:rPr dirty="0"/>
              <a:t> </a:t>
            </a:r>
            <a:r>
              <a:rPr dirty="0" err="1"/>
              <a:t>kliknutí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3706B"/>
                </a:solidFill>
                <a:latin typeface="Courier New"/>
              </a:defRPr>
            </a:pPr>
            <a:r>
              <a:t>[ KULIDA ]   /   [ UKÁZKA DOTAZU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73706B"/>
                </a:solidFill>
                <a:latin typeface="Courier New"/>
              </a:defRPr>
            </a:pPr>
            <a:r>
              <a:t>SLIDE 04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49808"/>
            <a:ext cx="10728655" cy="13716"/>
          </a:xfrm>
          <a:prstGeom prst="rect">
            <a:avLst/>
          </a:prstGeom>
          <a:solidFill>
            <a:srgbClr val="E6E4DF"/>
          </a:solidFill>
          <a:ln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6E4DF"/>
          </a:solidFill>
          <a:ln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706B"/>
                </a:solidFill>
                <a:latin typeface="Courier New"/>
              </a:defRPr>
            </a:pPr>
            <a:r>
              <a:t>KULIDA – AI asistent pro normy a předpisy   •   Technický návrh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728655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Helvetica"/>
              </a:defRPr>
            </a:pPr>
            <a:r>
              <a:rPr dirty="0" err="1"/>
              <a:t>Příklad</a:t>
            </a:r>
            <a:r>
              <a:rPr dirty="0"/>
              <a:t> z </a:t>
            </a:r>
            <a:r>
              <a:rPr dirty="0" err="1"/>
              <a:t>praxe</a:t>
            </a:r>
            <a:r>
              <a:rPr dirty="0"/>
              <a:t>: </a:t>
            </a:r>
            <a:r>
              <a:rPr dirty="0" err="1"/>
              <a:t>Akustika</a:t>
            </a:r>
            <a:r>
              <a:rPr dirty="0"/>
              <a:t> v </a:t>
            </a:r>
            <a:r>
              <a:rPr dirty="0" err="1"/>
              <a:t>bytové</a:t>
            </a:r>
            <a:r>
              <a:rPr dirty="0"/>
              <a:t> </a:t>
            </a:r>
            <a:r>
              <a:rPr dirty="0" err="1"/>
              <a:t>výstavbě</a:t>
            </a:r>
            <a:endParaRPr dirty="0"/>
          </a:p>
          <a:p>
            <a:pPr>
              <a:defRPr sz="1300">
                <a:solidFill>
                  <a:srgbClr val="4B5563"/>
                </a:solidFill>
                <a:latin typeface="Helvetica"/>
              </a:defRPr>
            </a:pPr>
            <a:r>
              <a:rPr lang="cs-CZ" dirty="0"/>
              <a:t>Ukázka </a:t>
            </a:r>
            <a:r>
              <a:rPr dirty="0" err="1"/>
              <a:t>dotazu</a:t>
            </a:r>
            <a:r>
              <a:rPr dirty="0"/>
              <a:t> </a:t>
            </a:r>
            <a:r>
              <a:rPr dirty="0" err="1"/>
              <a:t>nad</a:t>
            </a:r>
            <a:r>
              <a:rPr dirty="0"/>
              <a:t> </a:t>
            </a:r>
            <a:r>
              <a:rPr dirty="0" err="1"/>
              <a:t>reálnými</a:t>
            </a:r>
            <a:r>
              <a:rPr dirty="0"/>
              <a:t> </a:t>
            </a:r>
            <a:r>
              <a:rPr dirty="0" err="1"/>
              <a:t>stránkami</a:t>
            </a:r>
            <a:r>
              <a:rPr dirty="0"/>
              <a:t> </a:t>
            </a:r>
            <a:r>
              <a:rPr dirty="0" err="1"/>
              <a:t>technické</a:t>
            </a:r>
            <a:r>
              <a:rPr dirty="0"/>
              <a:t> </a:t>
            </a:r>
            <a:r>
              <a:rPr dirty="0" err="1"/>
              <a:t>normy</a:t>
            </a:r>
            <a:r>
              <a:rPr dirty="0"/>
              <a:t> ČSN 73 0532.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7132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65836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3706B"/>
                </a:solidFill>
                <a:latin typeface="Courier New"/>
              </a:defRPr>
            </a:pPr>
            <a:r>
              <a:t>DOTAZ PROJEKTANTA</a:t>
            </a:r>
          </a:p>
          <a:p>
            <a:pPr>
              <a:defRPr sz="1500" b="1">
                <a:solidFill>
                  <a:srgbClr val="111827"/>
                </a:solidFill>
                <a:latin typeface="Helvetica"/>
              </a:defRPr>
            </a:pPr>
            <a:r>
              <a:t>„Jakou neprůzvučnost musí mít stěna mezi dvěma byty?“</a:t>
            </a:r>
          </a:p>
          <a:p>
            <a:pPr>
              <a:spcBef>
                <a:spcPts val="1600"/>
              </a:spcBef>
              <a:defRPr sz="1000" b="1">
                <a:solidFill>
                  <a:srgbClr val="73706B"/>
                </a:solidFill>
                <a:latin typeface="Courier New"/>
              </a:defRPr>
            </a:pPr>
            <a:r>
              <a:t>ODPOVĚĎ ASISTENTA S PŘESNÝM VYMEZENÍM</a:t>
            </a:r>
          </a:p>
          <a:p>
            <a:pPr>
              <a:defRPr sz="1200">
                <a:solidFill>
                  <a:srgbClr val="111827"/>
                </a:solidFill>
                <a:latin typeface="Helvetica"/>
              </a:defRPr>
            </a:pPr>
            <a:r>
              <a:t>Pro stěny mezi místnostmi různých bytů platí požadavek R′w ≥ 53 dB.</a:t>
            </a:r>
            <a:br/>
            <a:br/>
            <a:r>
              <a:t>Hodnota ≥ 52 dB je přípustná jen u staré, zejména panelové výstavby, kde nelze provést dodatečná opatření.</a:t>
            </a:r>
          </a:p>
          <a:p>
            <a:pPr>
              <a:spcBef>
                <a:spcPts val="1600"/>
              </a:spcBef>
              <a:defRPr sz="1000" b="1">
                <a:solidFill>
                  <a:srgbClr val="065F46"/>
                </a:solidFill>
                <a:latin typeface="Courier New"/>
              </a:defRPr>
            </a:pPr>
            <a:r>
              <a:t>PŘESNÁ CITACE ZDROJE (KLIKATELNÝ NÁHLED STRÁNKY)</a:t>
            </a:r>
          </a:p>
          <a:p>
            <a:pPr>
              <a:defRPr sz="1200" b="1">
                <a:solidFill>
                  <a:srgbClr val="0D0D0C"/>
                </a:solidFill>
                <a:latin typeface="Courier New"/>
              </a:defRPr>
            </a:pPr>
            <a:r>
              <a:t>[ČSN 73 0532]  •  Tabulka 1, řádek 2, strana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920240"/>
            <a:ext cx="3413455" cy="4114800"/>
          </a:xfrm>
          <a:prstGeom prst="roundRect">
            <a:avLst/>
          </a:prstGeom>
          <a:solidFill>
            <a:srgbClr val="F4F4F0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2103120"/>
            <a:ext cx="295625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3706B"/>
                </a:solidFill>
                <a:latin typeface="Courier New"/>
              </a:defRPr>
            </a:pPr>
            <a:r>
              <a:rPr dirty="0"/>
              <a:t>PROČ JE TO ZÁSADNÍ:</a:t>
            </a:r>
          </a:p>
          <a:p>
            <a:pPr>
              <a:spcBef>
                <a:spcPts val="800"/>
              </a:spcBef>
              <a:defRPr sz="1000">
                <a:solidFill>
                  <a:srgbClr val="111827"/>
                </a:solidFill>
                <a:latin typeface="Helvetica"/>
              </a:defRPr>
            </a:pPr>
            <a:r>
              <a:rPr dirty="0"/>
              <a:t>• Žádné </a:t>
            </a:r>
            <a:r>
              <a:rPr dirty="0" err="1"/>
              <a:t>halucinace</a:t>
            </a:r>
            <a:r>
              <a:rPr dirty="0"/>
              <a:t>: </a:t>
            </a:r>
            <a:r>
              <a:rPr dirty="0" err="1"/>
              <a:t>Asistent</a:t>
            </a:r>
            <a:r>
              <a:rPr dirty="0"/>
              <a:t> </a:t>
            </a:r>
            <a:r>
              <a:rPr dirty="0" err="1"/>
              <a:t>nepoužívá</a:t>
            </a:r>
            <a:r>
              <a:rPr dirty="0"/>
              <a:t> </a:t>
            </a:r>
            <a:r>
              <a:rPr dirty="0" err="1"/>
              <a:t>domněnky</a:t>
            </a:r>
            <a:r>
              <a:rPr dirty="0"/>
              <a:t>. </a:t>
            </a:r>
            <a:r>
              <a:rPr dirty="0" err="1"/>
              <a:t>Cituje</a:t>
            </a:r>
            <a:r>
              <a:rPr dirty="0"/>
              <a:t> </a:t>
            </a:r>
            <a:r>
              <a:rPr dirty="0" err="1"/>
              <a:t>výhradně</a:t>
            </a:r>
            <a:r>
              <a:rPr dirty="0"/>
              <a:t> </a:t>
            </a:r>
            <a:r>
              <a:rPr dirty="0" err="1"/>
              <a:t>tabulku</a:t>
            </a:r>
            <a:r>
              <a:rPr dirty="0"/>
              <a:t>, </a:t>
            </a:r>
            <a:r>
              <a:rPr dirty="0" err="1"/>
              <a:t>kterou</a:t>
            </a:r>
            <a:r>
              <a:rPr dirty="0"/>
              <a:t> </a:t>
            </a:r>
            <a:r>
              <a:rPr dirty="0" err="1"/>
              <a:t>reálně</a:t>
            </a:r>
            <a:r>
              <a:rPr dirty="0"/>
              <a:t> </a:t>
            </a:r>
            <a:r>
              <a:rPr dirty="0" err="1"/>
              <a:t>otevřel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000">
                <a:solidFill>
                  <a:srgbClr val="111827"/>
                </a:solidFill>
                <a:latin typeface="Helvetica"/>
              </a:defRPr>
            </a:pPr>
            <a:r>
              <a:rPr dirty="0"/>
              <a:t>• </a:t>
            </a:r>
            <a:r>
              <a:rPr dirty="0" err="1"/>
              <a:t>Multimodální</a:t>
            </a:r>
            <a:r>
              <a:rPr dirty="0"/>
              <a:t> </a:t>
            </a:r>
            <a:r>
              <a:rPr dirty="0" err="1"/>
              <a:t>čtení</a:t>
            </a:r>
            <a:r>
              <a:rPr dirty="0"/>
              <a:t>: </a:t>
            </a:r>
            <a:r>
              <a:rPr dirty="0" err="1"/>
              <a:t>Hodnoty</a:t>
            </a:r>
            <a:r>
              <a:rPr dirty="0"/>
              <a:t> </a:t>
            </a:r>
            <a:r>
              <a:rPr dirty="0" err="1"/>
              <a:t>parametrů</a:t>
            </a:r>
            <a:r>
              <a:rPr dirty="0"/>
              <a:t> </a:t>
            </a:r>
            <a:r>
              <a:rPr dirty="0" err="1"/>
              <a:t>čte</a:t>
            </a:r>
            <a:r>
              <a:rPr dirty="0"/>
              <a:t> </a:t>
            </a:r>
            <a:r>
              <a:rPr dirty="0" err="1"/>
              <a:t>přímo</a:t>
            </a:r>
            <a:r>
              <a:rPr dirty="0"/>
              <a:t> z </a:t>
            </a:r>
            <a:r>
              <a:rPr dirty="0" err="1"/>
              <a:t>tabulky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obrázku</a:t>
            </a:r>
            <a:r>
              <a:rPr dirty="0"/>
              <a:t> </a:t>
            </a:r>
            <a:r>
              <a:rPr dirty="0" err="1"/>
              <a:t>originální</a:t>
            </a:r>
            <a:r>
              <a:rPr dirty="0"/>
              <a:t> </a:t>
            </a:r>
            <a:r>
              <a:rPr dirty="0" err="1"/>
              <a:t>stránky</a:t>
            </a:r>
            <a:r>
              <a:rPr dirty="0"/>
              <a:t> </a:t>
            </a:r>
            <a:r>
              <a:rPr dirty="0" err="1"/>
              <a:t>normy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000">
                <a:solidFill>
                  <a:srgbClr val="111827"/>
                </a:solidFill>
                <a:latin typeface="Helvetica"/>
              </a:defRPr>
            </a:pPr>
            <a:r>
              <a:rPr dirty="0"/>
              <a:t>• </a:t>
            </a:r>
            <a:r>
              <a:rPr dirty="0" err="1"/>
              <a:t>Výjimky</a:t>
            </a:r>
            <a:r>
              <a:rPr dirty="0"/>
              <a:t> a </a:t>
            </a:r>
            <a:r>
              <a:rPr dirty="0" err="1"/>
              <a:t>poznámky</a:t>
            </a:r>
            <a:r>
              <a:rPr dirty="0"/>
              <a:t>: </a:t>
            </a:r>
            <a:r>
              <a:rPr dirty="0" err="1"/>
              <a:t>Zachytil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klíčovou</a:t>
            </a:r>
            <a:r>
              <a:rPr dirty="0"/>
              <a:t> </a:t>
            </a:r>
            <a:r>
              <a:rPr dirty="0" err="1"/>
              <a:t>výjimku</a:t>
            </a:r>
            <a:r>
              <a:rPr dirty="0"/>
              <a:t> pro </a:t>
            </a:r>
            <a:r>
              <a:rPr dirty="0" err="1"/>
              <a:t>starou</a:t>
            </a:r>
            <a:r>
              <a:rPr dirty="0"/>
              <a:t> </a:t>
            </a:r>
            <a:r>
              <a:rPr dirty="0" err="1"/>
              <a:t>panelovou</a:t>
            </a:r>
            <a:r>
              <a:rPr dirty="0"/>
              <a:t> </a:t>
            </a:r>
            <a:r>
              <a:rPr dirty="0" err="1"/>
              <a:t>zástavbu</a:t>
            </a:r>
            <a:r>
              <a:rPr dirty="0"/>
              <a:t> pod </a:t>
            </a:r>
            <a:r>
              <a:rPr dirty="0" err="1"/>
              <a:t>tabulkou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000">
                <a:solidFill>
                  <a:srgbClr val="111827"/>
                </a:solidFill>
                <a:latin typeface="Helvetica"/>
              </a:defRPr>
            </a:pPr>
            <a:r>
              <a:rPr dirty="0"/>
              <a:t>• </a:t>
            </a:r>
            <a:r>
              <a:rPr dirty="0" err="1"/>
              <a:t>Auditovatelnost</a:t>
            </a:r>
            <a:r>
              <a:rPr dirty="0"/>
              <a:t>: </a:t>
            </a:r>
            <a:r>
              <a:rPr dirty="0" err="1"/>
              <a:t>Projektant</a:t>
            </a:r>
            <a:r>
              <a:rPr dirty="0"/>
              <a:t> </a:t>
            </a:r>
            <a:r>
              <a:rPr dirty="0" err="1"/>
              <a:t>má</a:t>
            </a:r>
            <a:r>
              <a:rPr dirty="0"/>
              <a:t> </a:t>
            </a:r>
            <a:r>
              <a:rPr dirty="0" err="1"/>
              <a:t>originální</a:t>
            </a:r>
            <a:r>
              <a:rPr dirty="0"/>
              <a:t> </a:t>
            </a:r>
            <a:r>
              <a:rPr dirty="0" err="1"/>
              <a:t>tabulku</a:t>
            </a:r>
            <a:r>
              <a:rPr dirty="0"/>
              <a:t> k </a:t>
            </a:r>
            <a:r>
              <a:rPr dirty="0" err="1"/>
              <a:t>okamžité</a:t>
            </a:r>
            <a:r>
              <a:rPr dirty="0"/>
              <a:t> </a:t>
            </a:r>
            <a:r>
              <a:rPr dirty="0" err="1"/>
              <a:t>kontrole</a:t>
            </a:r>
            <a:r>
              <a:rPr dirty="0"/>
              <a:t> </a:t>
            </a:r>
            <a:r>
              <a:rPr dirty="0" err="1"/>
              <a:t>před</a:t>
            </a:r>
            <a:r>
              <a:rPr dirty="0"/>
              <a:t> </a:t>
            </a:r>
            <a:r>
              <a:rPr dirty="0" err="1"/>
              <a:t>odesláním</a:t>
            </a:r>
            <a:r>
              <a:rPr dirty="0"/>
              <a:t> </a:t>
            </a:r>
            <a:r>
              <a:rPr dirty="0" err="1"/>
              <a:t>výkresu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3706B"/>
                </a:solidFill>
                <a:latin typeface="Courier New"/>
              </a:defRPr>
            </a:pPr>
            <a:r>
              <a:t>[ KULIDA ]   /   [ TECHNOLOGIE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73706B"/>
                </a:solidFill>
                <a:latin typeface="Courier New"/>
              </a:defRPr>
            </a:pPr>
            <a:r>
              <a:t>SLIDE 05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49808"/>
            <a:ext cx="10728655" cy="13716"/>
          </a:xfrm>
          <a:prstGeom prst="rect">
            <a:avLst/>
          </a:prstGeom>
          <a:solidFill>
            <a:srgbClr val="E6E4DF"/>
          </a:solidFill>
          <a:ln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6E4DF"/>
          </a:solidFill>
          <a:ln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706B"/>
                </a:solidFill>
                <a:latin typeface="Courier New"/>
              </a:defRPr>
            </a:pPr>
            <a:r>
              <a:t>KULIDA – AI asistent pro normy a předpisy   •   Technický návrh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Helvetica"/>
              </a:defRPr>
            </a:pPr>
            <a:r>
              <a:t>Jak to funguje: 7 fází zpracování dotazu</a:t>
            </a:r>
          </a:p>
          <a:p>
            <a:pPr>
              <a:defRPr sz="1300">
                <a:solidFill>
                  <a:srgbClr val="4B5563"/>
                </a:solidFill>
                <a:latin typeface="Helvetica"/>
              </a:defRPr>
            </a:pPr>
            <a:r>
              <a:t>Asistent nehledá jen klíčová slova: postupuje jako zkušený kolega, který normu otevře, projde souvislosti a ověří platnost.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144475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148840"/>
            <a:ext cx="122529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Courier New"/>
              </a:defRPr>
            </a:pPr>
            <a:r>
              <a:t>01</a:t>
            </a:r>
          </a:p>
          <a:p>
            <a:pPr>
              <a:defRPr sz="1150" b="1">
                <a:solidFill>
                  <a:srgbClr val="111827"/>
                </a:solidFill>
                <a:latin typeface="Helvetica"/>
              </a:defRPr>
            </a:pPr>
            <a:r>
              <a:t>Struktura</a:t>
            </a:r>
          </a:p>
          <a:p>
            <a:pPr>
              <a:spcBef>
                <a:spcPts val="600"/>
              </a:spcBef>
              <a:defRPr sz="850">
                <a:solidFill>
                  <a:srgbClr val="4B5563"/>
                </a:solidFill>
                <a:latin typeface="Helvetica"/>
              </a:defRPr>
            </a:pPr>
            <a:r>
              <a:t>Rozdělení dokumentů na kapitoly, články, tabulky a obrázky s evidencí platnosti.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011680"/>
            <a:ext cx="144475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95728" y="2148840"/>
            <a:ext cx="122529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Courier New"/>
              </a:defRPr>
            </a:pPr>
            <a:r>
              <a:t>02</a:t>
            </a:r>
          </a:p>
          <a:p>
            <a:pPr>
              <a:defRPr sz="1150" b="1">
                <a:solidFill>
                  <a:srgbClr val="111827"/>
                </a:solidFill>
                <a:latin typeface="Helvetica"/>
              </a:defRPr>
            </a:pPr>
            <a:r>
              <a:t>Index</a:t>
            </a:r>
          </a:p>
          <a:p>
            <a:pPr>
              <a:spcBef>
                <a:spcPts val="600"/>
              </a:spcBef>
              <a:defRPr sz="850">
                <a:solidFill>
                  <a:srgbClr val="4B5563"/>
                </a:solidFill>
                <a:latin typeface="Helvetica"/>
              </a:defRPr>
            </a:pPr>
            <a:r>
              <a:t>Dvojí uložení: podle významu a přesných výrazů (XC3, REI 60) s českou lemmatizací.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2011680"/>
            <a:ext cx="144475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50208" y="2148840"/>
            <a:ext cx="122529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Courier New"/>
              </a:defRPr>
            </a:pPr>
            <a:r>
              <a:t>03</a:t>
            </a:r>
          </a:p>
          <a:p>
            <a:pPr>
              <a:defRPr sz="1150" b="1">
                <a:solidFill>
                  <a:srgbClr val="111827"/>
                </a:solidFill>
                <a:latin typeface="Helvetica"/>
              </a:defRPr>
            </a:pPr>
            <a:r>
              <a:t>Hledání</a:t>
            </a:r>
          </a:p>
          <a:p>
            <a:pPr>
              <a:spcBef>
                <a:spcPts val="600"/>
              </a:spcBef>
              <a:defRPr sz="850">
                <a:solidFill>
                  <a:srgbClr val="4B5563"/>
                </a:solidFill>
                <a:latin typeface="Helvetica"/>
              </a:defRPr>
            </a:pPr>
            <a:r>
              <a:t>Iterativní rozbor dotazu, zkoumání různých formulací a souvislostí v češtině i cizích jazycích.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59" y="2011680"/>
            <a:ext cx="144475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04687" y="2148840"/>
            <a:ext cx="122529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Courier New"/>
              </a:defRPr>
            </a:pPr>
            <a:r>
              <a:t>04</a:t>
            </a:r>
          </a:p>
          <a:p>
            <a:pPr>
              <a:defRPr sz="1150" b="1">
                <a:solidFill>
                  <a:srgbClr val="111827"/>
                </a:solidFill>
                <a:latin typeface="Helvetica"/>
              </a:defRPr>
            </a:pPr>
            <a:r>
              <a:t>Výběr</a:t>
            </a:r>
          </a:p>
          <a:p>
            <a:pPr>
              <a:spcBef>
                <a:spcPts val="600"/>
              </a:spcBef>
              <a:defRPr sz="850">
                <a:solidFill>
                  <a:srgbClr val="4B5563"/>
                </a:solidFill>
                <a:latin typeface="Helvetica"/>
              </a:defRPr>
            </a:pPr>
            <a:r>
              <a:t>Specializovaný reranker model vybere z ~100 kandidátů ty nejrelevantnější články.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2011680"/>
            <a:ext cx="144475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59168" y="2148840"/>
            <a:ext cx="122529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Courier New"/>
              </a:defRPr>
            </a:pPr>
            <a:r>
              <a:t>05</a:t>
            </a:r>
          </a:p>
          <a:p>
            <a:pPr>
              <a:defRPr sz="1150" b="1">
                <a:solidFill>
                  <a:srgbClr val="111827"/>
                </a:solidFill>
                <a:latin typeface="Helvetica"/>
              </a:defRPr>
            </a:pPr>
            <a:r>
              <a:t>Čtení</a:t>
            </a:r>
          </a:p>
          <a:p>
            <a:pPr>
              <a:spcBef>
                <a:spcPts val="600"/>
              </a:spcBef>
              <a:defRPr sz="850">
                <a:solidFill>
                  <a:srgbClr val="4B5563"/>
                </a:solidFill>
                <a:latin typeface="Helvetica"/>
              </a:defRPr>
            </a:pPr>
            <a:r>
              <a:t>Otevření článků i tabulek. Hodnoty z grafů a tabulek čte přímo z obrázku originální stránky.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2011680"/>
            <a:ext cx="144475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13648" y="2148840"/>
            <a:ext cx="122529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Courier New"/>
              </a:defRPr>
            </a:pPr>
            <a:r>
              <a:t>06</a:t>
            </a:r>
          </a:p>
          <a:p>
            <a:pPr>
              <a:defRPr sz="1150" b="1">
                <a:solidFill>
                  <a:srgbClr val="111827"/>
                </a:solidFill>
                <a:latin typeface="Helvetica"/>
              </a:defRPr>
            </a:pPr>
            <a:r>
              <a:t>Kontrola</a:t>
            </a:r>
          </a:p>
          <a:p>
            <a:pPr>
              <a:spcBef>
                <a:spcPts val="600"/>
              </a:spcBef>
              <a:defRPr sz="850">
                <a:solidFill>
                  <a:srgbClr val="4B5563"/>
                </a:solidFill>
                <a:latin typeface="Helvetica"/>
              </a:defRPr>
            </a:pPr>
            <a:r>
              <a:t>Ověření, zda dokument platí a zda článek nemění novější změna či dodatek.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2011680"/>
            <a:ext cx="144475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68128" y="2148840"/>
            <a:ext cx="122529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Courier New"/>
              </a:defRPr>
            </a:pPr>
            <a:r>
              <a:t>07</a:t>
            </a:r>
          </a:p>
          <a:p>
            <a:pPr>
              <a:defRPr sz="1150" b="1">
                <a:solidFill>
                  <a:srgbClr val="111827"/>
                </a:solidFill>
                <a:latin typeface="Helvetica"/>
              </a:defRPr>
            </a:pPr>
            <a:r>
              <a:t>Odpověď</a:t>
            </a:r>
          </a:p>
          <a:p>
            <a:pPr>
              <a:spcBef>
                <a:spcPts val="600"/>
              </a:spcBef>
              <a:defRPr sz="850">
                <a:solidFill>
                  <a:srgbClr val="4B5563"/>
                </a:solidFill>
                <a:latin typeface="Helvetica"/>
              </a:defRPr>
            </a:pPr>
            <a:r>
              <a:t>Shrnutí výsledku s citací pouze toho, co asistent skutečně otevřel a přečetl.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86400"/>
            <a:ext cx="10728655" cy="621792"/>
          </a:xfrm>
          <a:prstGeom prst="roundRect">
            <a:avLst/>
          </a:prstGeom>
          <a:solidFill>
            <a:srgbClr val="0D0D0C"/>
          </a:solidFill>
          <a:ln w="12700">
            <a:solidFill>
              <a:srgbClr val="0D0D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5577840"/>
            <a:ext cx="816120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Helvetica"/>
              </a:defRPr>
            </a:pPr>
            <a:r>
              <a:rPr dirty="0" err="1"/>
              <a:t>Typický</a:t>
            </a:r>
            <a:r>
              <a:rPr dirty="0"/>
              <a:t> </a:t>
            </a:r>
            <a:r>
              <a:rPr dirty="0" err="1"/>
              <a:t>dotaz</a:t>
            </a:r>
            <a:r>
              <a:rPr dirty="0"/>
              <a:t> </a:t>
            </a:r>
            <a:r>
              <a:rPr dirty="0" err="1"/>
              <a:t>zabere</a:t>
            </a:r>
            <a:r>
              <a:rPr dirty="0"/>
              <a:t> 4–8 </a:t>
            </a:r>
            <a:r>
              <a:rPr dirty="0" err="1"/>
              <a:t>kroků</a:t>
            </a:r>
            <a:r>
              <a:rPr dirty="0"/>
              <a:t>. </a:t>
            </a:r>
            <a:r>
              <a:rPr dirty="0" err="1"/>
              <a:t>Dodatky</a:t>
            </a:r>
            <a:r>
              <a:rPr dirty="0"/>
              <a:t> a </a:t>
            </a:r>
            <a:r>
              <a:rPr dirty="0" err="1"/>
              <a:t>novely</a:t>
            </a:r>
            <a:r>
              <a:rPr dirty="0"/>
              <a:t> </a:t>
            </a:r>
            <a:r>
              <a:rPr dirty="0" err="1"/>
              <a:t>systém</a:t>
            </a:r>
            <a:r>
              <a:rPr dirty="0"/>
              <a:t> </a:t>
            </a:r>
            <a:r>
              <a:rPr dirty="0" err="1"/>
              <a:t>zpracuje</a:t>
            </a:r>
            <a:r>
              <a:rPr dirty="0"/>
              <a:t> </a:t>
            </a:r>
            <a:r>
              <a:rPr dirty="0" err="1"/>
              <a:t>automaticky</a:t>
            </a:r>
            <a:r>
              <a:rPr dirty="0"/>
              <a:t> — </a:t>
            </a:r>
            <a:r>
              <a:rPr dirty="0" err="1"/>
              <a:t>před</a:t>
            </a:r>
            <a:r>
              <a:rPr dirty="0"/>
              <a:t> </a:t>
            </a:r>
            <a:r>
              <a:rPr dirty="0" err="1"/>
              <a:t>uložením</a:t>
            </a:r>
            <a:r>
              <a:rPr dirty="0"/>
              <a:t> </a:t>
            </a:r>
            <a:r>
              <a:rPr dirty="0" err="1"/>
              <a:t>vám</a:t>
            </a:r>
            <a:r>
              <a:rPr dirty="0"/>
              <a:t> </a:t>
            </a:r>
            <a:r>
              <a:rPr dirty="0" err="1"/>
              <a:t>ukáže</a:t>
            </a:r>
            <a:r>
              <a:rPr dirty="0"/>
              <a:t> </a:t>
            </a:r>
            <a:r>
              <a:rPr dirty="0" err="1"/>
              <a:t>změny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schválení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3706B"/>
                </a:solidFill>
                <a:latin typeface="Courier New"/>
              </a:defRPr>
            </a:pPr>
            <a:r>
              <a:t>[ KULIDA ]   /   [ ROZSAH DOKUMENTŮ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73706B"/>
                </a:solidFill>
                <a:latin typeface="Courier New"/>
              </a:defRPr>
            </a:pPr>
            <a:r>
              <a:t>SLIDE 06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49808"/>
            <a:ext cx="10728655" cy="13716"/>
          </a:xfrm>
          <a:prstGeom prst="rect">
            <a:avLst/>
          </a:prstGeom>
          <a:solidFill>
            <a:srgbClr val="E6E4DF"/>
          </a:solidFill>
          <a:ln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6E4DF"/>
          </a:solidFill>
          <a:ln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706B"/>
                </a:solidFill>
                <a:latin typeface="Courier New"/>
              </a:defRPr>
            </a:pPr>
            <a:r>
              <a:t>KULIDA – AI asistent pro normy a předpisy   •   Technický návrh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Helvetica"/>
              </a:defRPr>
            </a:pPr>
            <a:r>
              <a:t>Nejen normy: jednotný systém pro veškeré předpisy</a:t>
            </a:r>
          </a:p>
          <a:p>
            <a:pPr>
              <a:defRPr sz="1300">
                <a:solidFill>
                  <a:srgbClr val="4B5563"/>
                </a:solidFill>
                <a:latin typeface="Helvetica"/>
              </a:defRPr>
            </a:pPr>
            <a:r>
              <a:t>Systém není vázaný na ČSN. Stejný postup funguje pro každý dokument se strukturou a dohledatelnými částmi.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D014164-4192-2BE6-1E2E-94BF6FF15862}"/>
              </a:ext>
            </a:extLst>
          </p:cNvPr>
          <p:cNvGrpSpPr/>
          <p:nvPr/>
        </p:nvGrpSpPr>
        <p:grpSpPr>
          <a:xfrm>
            <a:off x="704088" y="2241964"/>
            <a:ext cx="3337560" cy="3989672"/>
            <a:chOff x="731520" y="1965960"/>
            <a:chExt cx="3337560" cy="3989672"/>
          </a:xfrm>
        </p:grpSpPr>
        <p:sp>
          <p:nvSpPr>
            <p:cNvPr id="9" name="Rounded Rectangle 8"/>
            <p:cNvSpPr/>
            <p:nvPr/>
          </p:nvSpPr>
          <p:spPr>
            <a:xfrm>
              <a:off x="731520" y="1965960"/>
              <a:ext cx="3337560" cy="3108961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6E4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60120" y="2206593"/>
              <a:ext cx="2880360" cy="37490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950">
                  <a:solidFill>
                    <a:srgbClr val="73706B"/>
                  </a:solidFill>
                  <a:latin typeface="Courier New"/>
                </a:defRPr>
              </a:pPr>
              <a:r>
                <a:rPr dirty="0"/>
                <a:t>01 / LEGISLATIVA</a:t>
              </a:r>
            </a:p>
            <a:p>
              <a:pPr>
                <a:defRPr sz="1600" b="1">
                  <a:solidFill>
                    <a:srgbClr val="111827"/>
                  </a:solidFill>
                  <a:latin typeface="Helvetica"/>
                </a:defRPr>
              </a:pPr>
              <a:r>
                <a:rPr dirty="0" err="1"/>
                <a:t>Zákony</a:t>
              </a:r>
              <a:r>
                <a:rPr dirty="0"/>
                <a:t> a </a:t>
              </a:r>
              <a:r>
                <a:rPr dirty="0" err="1"/>
                <a:t>vyhlášky</a:t>
              </a:r>
              <a:endParaRPr dirty="0"/>
            </a:p>
            <a:p>
              <a:pPr>
                <a:spcBef>
                  <a:spcPts val="800"/>
                </a:spcBef>
                <a:defRPr sz="1100">
                  <a:solidFill>
                    <a:srgbClr val="4B5563"/>
                  </a:solidFill>
                  <a:latin typeface="Helvetica"/>
                </a:defRPr>
              </a:pPr>
              <a:r>
                <a:rPr dirty="0"/>
                <a:t>• </a:t>
              </a:r>
              <a:r>
                <a:rPr dirty="0" err="1"/>
                <a:t>Členění</a:t>
              </a:r>
              <a:r>
                <a:rPr dirty="0"/>
                <a:t> </a:t>
              </a:r>
              <a:r>
                <a:rPr dirty="0" err="1"/>
                <a:t>na</a:t>
              </a:r>
              <a:r>
                <a:rPr dirty="0"/>
                <a:t> </a:t>
              </a:r>
              <a:r>
                <a:rPr dirty="0" err="1"/>
                <a:t>paragrafy</a:t>
              </a:r>
              <a:r>
                <a:rPr dirty="0"/>
                <a:t>, </a:t>
              </a:r>
              <a:r>
                <a:rPr dirty="0" err="1"/>
                <a:t>odstavce</a:t>
              </a:r>
              <a:r>
                <a:rPr dirty="0"/>
                <a:t> a </a:t>
              </a:r>
              <a:r>
                <a:rPr dirty="0" err="1"/>
                <a:t>písmena</a:t>
              </a:r>
              <a:endParaRPr dirty="0"/>
            </a:p>
            <a:p>
              <a:pPr>
                <a:spcBef>
                  <a:spcPts val="800"/>
                </a:spcBef>
                <a:defRPr sz="1100">
                  <a:solidFill>
                    <a:srgbClr val="4B5563"/>
                  </a:solidFill>
                  <a:latin typeface="Helvetica"/>
                </a:defRPr>
              </a:pPr>
              <a:r>
                <a:rPr dirty="0"/>
                <a:t>• Evidence </a:t>
              </a:r>
              <a:r>
                <a:rPr dirty="0" err="1"/>
                <a:t>účinnosti</a:t>
              </a:r>
              <a:r>
                <a:rPr dirty="0"/>
                <a:t> a </a:t>
              </a:r>
              <a:r>
                <a:rPr dirty="0" err="1"/>
                <a:t>platného</a:t>
              </a:r>
              <a:r>
                <a:rPr dirty="0"/>
                <a:t> </a:t>
              </a:r>
              <a:r>
                <a:rPr dirty="0" err="1"/>
                <a:t>znění</a:t>
              </a:r>
              <a:endParaRPr dirty="0"/>
            </a:p>
            <a:p>
              <a:pPr>
                <a:spcBef>
                  <a:spcPts val="800"/>
                </a:spcBef>
                <a:defRPr sz="1100">
                  <a:solidFill>
                    <a:srgbClr val="4B5563"/>
                  </a:solidFill>
                  <a:latin typeface="Helvetica"/>
                </a:defRPr>
              </a:pPr>
              <a:r>
                <a:rPr dirty="0"/>
                <a:t>• </a:t>
              </a:r>
              <a:r>
                <a:rPr dirty="0" err="1"/>
                <a:t>Aktualizace</a:t>
              </a:r>
              <a:r>
                <a:rPr dirty="0"/>
                <a:t> </a:t>
              </a:r>
              <a:r>
                <a:rPr dirty="0" err="1"/>
                <a:t>přímo</a:t>
              </a:r>
              <a:r>
                <a:rPr dirty="0"/>
                <a:t> z </a:t>
              </a:r>
              <a:r>
                <a:rPr dirty="0" err="1"/>
                <a:t>oficiální</a:t>
              </a:r>
              <a:r>
                <a:rPr dirty="0"/>
                <a:t> e-</a:t>
              </a:r>
              <a:r>
                <a:rPr dirty="0" err="1"/>
                <a:t>Sbírky</a:t>
              </a:r>
              <a:endParaRPr dirty="0"/>
            </a:p>
            <a:p>
              <a:pPr>
                <a:spcBef>
                  <a:spcPts val="800"/>
                </a:spcBef>
                <a:defRPr sz="1100">
                  <a:solidFill>
                    <a:srgbClr val="4B5563"/>
                  </a:solidFill>
                  <a:latin typeface="Helvetica"/>
                </a:defRPr>
              </a:pPr>
              <a:r>
                <a:rPr dirty="0"/>
                <a:t>• </a:t>
              </a:r>
              <a:r>
                <a:rPr dirty="0" err="1"/>
                <a:t>Odkazy</a:t>
              </a:r>
              <a:r>
                <a:rPr dirty="0"/>
                <a:t> z </a:t>
              </a:r>
              <a:r>
                <a:rPr dirty="0" err="1"/>
                <a:t>vyhlášek</a:t>
              </a:r>
              <a:r>
                <a:rPr dirty="0"/>
                <a:t> </a:t>
              </a:r>
              <a:r>
                <a:rPr dirty="0" err="1"/>
                <a:t>přímo</a:t>
              </a:r>
              <a:r>
                <a:rPr dirty="0"/>
                <a:t> </a:t>
              </a:r>
              <a:r>
                <a:rPr dirty="0" err="1"/>
                <a:t>na</a:t>
              </a:r>
              <a:r>
                <a:rPr dirty="0"/>
                <a:t> </a:t>
              </a:r>
              <a:r>
                <a:rPr dirty="0" err="1"/>
                <a:t>příslušné</a:t>
              </a:r>
              <a:r>
                <a:rPr dirty="0"/>
                <a:t> </a:t>
              </a:r>
              <a:r>
                <a:rPr dirty="0" err="1"/>
                <a:t>normy</a:t>
              </a:r>
              <a:endParaRPr dirty="0"/>
            </a:p>
            <a:p>
              <a:pPr>
                <a:spcBef>
                  <a:spcPts val="2000"/>
                </a:spcBef>
                <a:defRPr sz="950" b="1">
                  <a:solidFill>
                    <a:srgbClr val="065F46"/>
                  </a:solidFill>
                  <a:latin typeface="Courier New"/>
                </a:defRPr>
              </a:pPr>
              <a:r>
                <a:rPr dirty="0"/>
                <a:t>✓ e-</a:t>
              </a:r>
              <a:r>
                <a:rPr dirty="0" err="1"/>
                <a:t>Sbírka</a:t>
              </a:r>
              <a:r>
                <a:rPr dirty="0"/>
                <a:t> / </a:t>
              </a:r>
              <a:r>
                <a:rPr dirty="0" err="1"/>
                <a:t>Sbírka</a:t>
              </a:r>
              <a:r>
                <a:rPr dirty="0"/>
                <a:t> </a:t>
              </a:r>
              <a:r>
                <a:rPr dirty="0" err="1"/>
                <a:t>zákonů</a:t>
              </a:r>
              <a:endParaRPr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FE8196C-CB3C-5F81-BE13-00B1407D5DD0}"/>
              </a:ext>
            </a:extLst>
          </p:cNvPr>
          <p:cNvGrpSpPr/>
          <p:nvPr/>
        </p:nvGrpSpPr>
        <p:grpSpPr>
          <a:xfrm>
            <a:off x="4398264" y="2241964"/>
            <a:ext cx="3337560" cy="3989672"/>
            <a:chOff x="4425696" y="1965960"/>
            <a:chExt cx="3337560" cy="3989672"/>
          </a:xfrm>
        </p:grpSpPr>
        <p:sp>
          <p:nvSpPr>
            <p:cNvPr id="11" name="Rounded Rectangle 10"/>
            <p:cNvSpPr/>
            <p:nvPr/>
          </p:nvSpPr>
          <p:spPr>
            <a:xfrm>
              <a:off x="4425696" y="1965960"/>
              <a:ext cx="3337560" cy="3108961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6E4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654296" y="2206593"/>
              <a:ext cx="2880360" cy="37490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950">
                  <a:solidFill>
                    <a:srgbClr val="73706B"/>
                  </a:solidFill>
                  <a:latin typeface="Courier New"/>
                </a:defRPr>
              </a:pPr>
              <a:r>
                <a:rPr dirty="0"/>
                <a:t>02 / INTERNÍ DOKUMENTY</a:t>
              </a:r>
            </a:p>
            <a:p>
              <a:pPr>
                <a:defRPr sz="1600" b="1">
                  <a:solidFill>
                    <a:srgbClr val="111827"/>
                  </a:solidFill>
                  <a:latin typeface="Helvetica"/>
                </a:defRPr>
              </a:pPr>
              <a:r>
                <a:rPr dirty="0" err="1"/>
                <a:t>Směrnice</a:t>
              </a:r>
              <a:r>
                <a:rPr dirty="0"/>
                <a:t> a know-how</a:t>
              </a:r>
            </a:p>
            <a:p>
              <a:pPr>
                <a:spcBef>
                  <a:spcPts val="800"/>
                </a:spcBef>
                <a:defRPr sz="1100">
                  <a:solidFill>
                    <a:srgbClr val="4B5563"/>
                  </a:solidFill>
                  <a:latin typeface="Helvetica"/>
                </a:defRPr>
              </a:pPr>
              <a:r>
                <a:rPr dirty="0"/>
                <a:t>• </a:t>
              </a:r>
              <a:r>
                <a:rPr dirty="0" err="1"/>
                <a:t>Firemní</a:t>
              </a:r>
              <a:r>
                <a:rPr dirty="0"/>
                <a:t> </a:t>
              </a:r>
              <a:r>
                <a:rPr dirty="0" err="1"/>
                <a:t>technologické</a:t>
              </a:r>
              <a:r>
                <a:rPr dirty="0"/>
                <a:t> </a:t>
              </a:r>
              <a:r>
                <a:rPr dirty="0" err="1"/>
                <a:t>postupy</a:t>
              </a:r>
              <a:r>
                <a:rPr dirty="0"/>
                <a:t> a </a:t>
              </a:r>
              <a:r>
                <a:rPr dirty="0" err="1"/>
                <a:t>směrnice</a:t>
              </a:r>
              <a:endParaRPr dirty="0"/>
            </a:p>
            <a:p>
              <a:pPr>
                <a:spcBef>
                  <a:spcPts val="800"/>
                </a:spcBef>
                <a:defRPr sz="1100">
                  <a:solidFill>
                    <a:srgbClr val="4B5563"/>
                  </a:solidFill>
                  <a:latin typeface="Helvetica"/>
                </a:defRPr>
              </a:pPr>
              <a:r>
                <a:rPr dirty="0"/>
                <a:t>• </a:t>
              </a:r>
              <a:r>
                <a:rPr dirty="0" err="1"/>
                <a:t>Vzorové</a:t>
              </a:r>
              <a:r>
                <a:rPr dirty="0"/>
                <a:t> </a:t>
              </a:r>
              <a:r>
                <a:rPr dirty="0" err="1"/>
                <a:t>statické</a:t>
              </a:r>
              <a:r>
                <a:rPr dirty="0"/>
                <a:t> a </a:t>
              </a:r>
              <a:r>
                <a:rPr dirty="0" err="1"/>
                <a:t>technické</a:t>
              </a:r>
              <a:r>
                <a:rPr dirty="0"/>
                <a:t> </a:t>
              </a:r>
              <a:r>
                <a:rPr dirty="0" err="1"/>
                <a:t>výpočty</a:t>
              </a:r>
              <a:endParaRPr dirty="0"/>
            </a:p>
            <a:p>
              <a:pPr>
                <a:spcBef>
                  <a:spcPts val="800"/>
                </a:spcBef>
                <a:defRPr sz="1100">
                  <a:solidFill>
                    <a:srgbClr val="4B5563"/>
                  </a:solidFill>
                  <a:latin typeface="Helvetica"/>
                </a:defRPr>
              </a:pPr>
              <a:r>
                <a:rPr dirty="0"/>
                <a:t>• </a:t>
              </a:r>
              <a:r>
                <a:rPr dirty="0" err="1"/>
                <a:t>Kontrolní</a:t>
              </a:r>
              <a:r>
                <a:rPr dirty="0"/>
                <a:t> </a:t>
              </a:r>
              <a:r>
                <a:rPr dirty="0" err="1"/>
                <a:t>seznamy</a:t>
              </a:r>
              <a:r>
                <a:rPr dirty="0"/>
                <a:t> pro </a:t>
              </a:r>
              <a:r>
                <a:rPr dirty="0" err="1"/>
                <a:t>přejímky</a:t>
              </a:r>
              <a:r>
                <a:rPr dirty="0"/>
                <a:t> a </a:t>
              </a:r>
              <a:r>
                <a:rPr dirty="0" err="1"/>
                <a:t>audity</a:t>
              </a:r>
              <a:endParaRPr dirty="0"/>
            </a:p>
            <a:p>
              <a:pPr>
                <a:spcBef>
                  <a:spcPts val="800"/>
                </a:spcBef>
                <a:defRPr sz="1100">
                  <a:solidFill>
                    <a:srgbClr val="4B5563"/>
                  </a:solidFill>
                  <a:latin typeface="Helvetica"/>
                </a:defRPr>
              </a:pPr>
              <a:r>
                <a:rPr dirty="0"/>
                <a:t>• </a:t>
              </a:r>
              <a:r>
                <a:rPr dirty="0" err="1"/>
                <a:t>Řízení</a:t>
              </a:r>
              <a:r>
                <a:rPr dirty="0"/>
                <a:t> </a:t>
              </a:r>
              <a:r>
                <a:rPr dirty="0" err="1"/>
                <a:t>přístupu</a:t>
              </a:r>
              <a:r>
                <a:rPr dirty="0"/>
                <a:t> po </a:t>
              </a:r>
              <a:r>
                <a:rPr dirty="0" err="1"/>
                <a:t>skupinách</a:t>
              </a:r>
              <a:r>
                <a:rPr dirty="0"/>
                <a:t> </a:t>
              </a:r>
              <a:r>
                <a:rPr dirty="0" err="1"/>
                <a:t>uživatelů</a:t>
              </a:r>
              <a:endParaRPr dirty="0"/>
            </a:p>
            <a:p>
              <a:pPr>
                <a:spcBef>
                  <a:spcPts val="2000"/>
                </a:spcBef>
                <a:defRPr sz="950" b="1">
                  <a:solidFill>
                    <a:srgbClr val="065F46"/>
                  </a:solidFill>
                  <a:latin typeface="Courier New"/>
                </a:defRPr>
              </a:pPr>
              <a:r>
                <a:rPr dirty="0"/>
                <a:t>✓ Role-based </a:t>
              </a:r>
              <a:r>
                <a:rPr dirty="0" err="1"/>
                <a:t>přístupová</a:t>
              </a:r>
              <a:r>
                <a:rPr dirty="0"/>
                <a:t> </a:t>
              </a:r>
              <a:r>
                <a:rPr dirty="0" err="1"/>
                <a:t>práva</a:t>
              </a:r>
              <a:endParaRPr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09ADF00-D9E2-680A-093C-01042C534593}"/>
              </a:ext>
            </a:extLst>
          </p:cNvPr>
          <p:cNvGrpSpPr/>
          <p:nvPr/>
        </p:nvGrpSpPr>
        <p:grpSpPr>
          <a:xfrm>
            <a:off x="8092440" y="2241964"/>
            <a:ext cx="3337560" cy="3989672"/>
            <a:chOff x="8119872" y="1965960"/>
            <a:chExt cx="3337560" cy="3989672"/>
          </a:xfrm>
        </p:grpSpPr>
        <p:sp>
          <p:nvSpPr>
            <p:cNvPr id="13" name="Rounded Rectangle 12"/>
            <p:cNvSpPr/>
            <p:nvPr/>
          </p:nvSpPr>
          <p:spPr>
            <a:xfrm>
              <a:off x="8119872" y="1965960"/>
              <a:ext cx="3337560" cy="3108961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6E4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348472" y="2206593"/>
              <a:ext cx="2880360" cy="37490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950">
                  <a:solidFill>
                    <a:srgbClr val="73706B"/>
                  </a:solidFill>
                  <a:latin typeface="Courier New"/>
                </a:defRPr>
              </a:pPr>
              <a:r>
                <a:rPr dirty="0"/>
                <a:t>03 / DALŠÍ PODKLADY</a:t>
              </a:r>
            </a:p>
            <a:p>
              <a:pPr>
                <a:defRPr sz="1600" b="1">
                  <a:solidFill>
                    <a:srgbClr val="111827"/>
                  </a:solidFill>
                  <a:latin typeface="Helvetica"/>
                </a:defRPr>
              </a:pPr>
              <a:r>
                <a:rPr dirty="0" err="1"/>
                <a:t>Katalogy</a:t>
              </a:r>
              <a:r>
                <a:rPr dirty="0"/>
                <a:t> a </a:t>
              </a:r>
              <a:r>
                <a:rPr dirty="0" err="1"/>
                <a:t>metodiky</a:t>
              </a:r>
              <a:endParaRPr dirty="0"/>
            </a:p>
            <a:p>
              <a:pPr>
                <a:spcBef>
                  <a:spcPts val="800"/>
                </a:spcBef>
                <a:defRPr sz="1100">
                  <a:solidFill>
                    <a:srgbClr val="4B5563"/>
                  </a:solidFill>
                  <a:latin typeface="Helvetica"/>
                </a:defRPr>
              </a:pPr>
              <a:r>
                <a:rPr dirty="0"/>
                <a:t>• </a:t>
              </a:r>
              <a:r>
                <a:rPr dirty="0" err="1"/>
                <a:t>Technické</a:t>
              </a:r>
              <a:r>
                <a:rPr dirty="0"/>
                <a:t> </a:t>
              </a:r>
              <a:r>
                <a:rPr dirty="0" err="1"/>
                <a:t>listy</a:t>
              </a:r>
              <a:r>
                <a:rPr dirty="0"/>
                <a:t> a </a:t>
              </a:r>
              <a:r>
                <a:rPr dirty="0" err="1"/>
                <a:t>katalogy</a:t>
              </a:r>
              <a:r>
                <a:rPr dirty="0"/>
                <a:t> </a:t>
              </a:r>
              <a:r>
                <a:rPr dirty="0" err="1"/>
                <a:t>výrobců</a:t>
              </a:r>
              <a:endParaRPr dirty="0"/>
            </a:p>
            <a:p>
              <a:pPr>
                <a:spcBef>
                  <a:spcPts val="800"/>
                </a:spcBef>
                <a:defRPr sz="1100">
                  <a:solidFill>
                    <a:srgbClr val="4B5563"/>
                  </a:solidFill>
                  <a:latin typeface="Helvetica"/>
                </a:defRPr>
              </a:pPr>
              <a:r>
                <a:rPr dirty="0"/>
                <a:t>• </a:t>
              </a:r>
              <a:r>
                <a:rPr dirty="0" err="1"/>
                <a:t>Technická</a:t>
              </a:r>
              <a:r>
                <a:rPr dirty="0"/>
                <a:t> </a:t>
              </a:r>
              <a:r>
                <a:rPr dirty="0" err="1"/>
                <a:t>pravidla</a:t>
              </a:r>
              <a:r>
                <a:rPr dirty="0"/>
                <a:t> a </a:t>
              </a:r>
              <a:r>
                <a:rPr dirty="0" err="1"/>
                <a:t>profesní</a:t>
              </a:r>
              <a:r>
                <a:rPr dirty="0"/>
                <a:t> </a:t>
              </a:r>
              <a:r>
                <a:rPr dirty="0" err="1"/>
                <a:t>metodiky</a:t>
              </a:r>
              <a:endParaRPr dirty="0"/>
            </a:p>
            <a:p>
              <a:pPr>
                <a:spcBef>
                  <a:spcPts val="800"/>
                </a:spcBef>
                <a:defRPr sz="1100">
                  <a:solidFill>
                    <a:srgbClr val="4B5563"/>
                  </a:solidFill>
                  <a:latin typeface="Helvetica"/>
                </a:defRPr>
              </a:pPr>
              <a:r>
                <a:rPr dirty="0"/>
                <a:t>• </a:t>
              </a:r>
              <a:r>
                <a:rPr dirty="0" err="1"/>
                <a:t>Certifikace</a:t>
              </a:r>
              <a:r>
                <a:rPr dirty="0"/>
                <a:t> a </a:t>
              </a:r>
              <a:r>
                <a:rPr dirty="0" err="1"/>
                <a:t>montážní</a:t>
              </a:r>
              <a:r>
                <a:rPr dirty="0"/>
                <a:t> </a:t>
              </a:r>
              <a:r>
                <a:rPr dirty="0" err="1"/>
                <a:t>návody</a:t>
              </a:r>
              <a:endParaRPr dirty="0"/>
            </a:p>
            <a:p>
              <a:pPr>
                <a:spcBef>
                  <a:spcPts val="800"/>
                </a:spcBef>
                <a:defRPr sz="1100">
                  <a:solidFill>
                    <a:srgbClr val="4B5563"/>
                  </a:solidFill>
                  <a:latin typeface="Helvetica"/>
                </a:defRPr>
              </a:pPr>
              <a:r>
                <a:rPr dirty="0"/>
                <a:t>• </a:t>
              </a:r>
              <a:r>
                <a:rPr dirty="0" err="1"/>
                <a:t>Možnost</a:t>
              </a:r>
              <a:r>
                <a:rPr dirty="0"/>
                <a:t> </a:t>
              </a:r>
              <a:r>
                <a:rPr dirty="0" err="1"/>
                <a:t>omezit</a:t>
              </a:r>
              <a:r>
                <a:rPr dirty="0"/>
                <a:t> </a:t>
              </a:r>
              <a:r>
                <a:rPr dirty="0" err="1"/>
                <a:t>dotaz</a:t>
              </a:r>
              <a:r>
                <a:rPr dirty="0"/>
                <a:t> </a:t>
              </a:r>
              <a:r>
                <a:rPr dirty="0" err="1"/>
                <a:t>na</a:t>
              </a:r>
              <a:r>
                <a:rPr dirty="0"/>
                <a:t> </a:t>
              </a:r>
              <a:r>
                <a:rPr dirty="0" err="1"/>
                <a:t>konkrétní</a:t>
              </a:r>
              <a:r>
                <a:rPr dirty="0"/>
                <a:t> </a:t>
              </a:r>
              <a:r>
                <a:rPr dirty="0" err="1"/>
                <a:t>kategorii</a:t>
              </a:r>
              <a:endParaRPr dirty="0"/>
            </a:p>
            <a:p>
              <a:pPr>
                <a:spcBef>
                  <a:spcPts val="2000"/>
                </a:spcBef>
                <a:defRPr sz="950" b="1">
                  <a:solidFill>
                    <a:srgbClr val="065F46"/>
                  </a:solidFill>
                  <a:latin typeface="Courier New"/>
                </a:defRPr>
              </a:pPr>
              <a:r>
                <a:rPr dirty="0"/>
                <a:t>✓ </a:t>
              </a:r>
              <a:r>
                <a:rPr dirty="0" err="1"/>
                <a:t>Strukturované</a:t>
              </a:r>
              <a:r>
                <a:rPr dirty="0"/>
                <a:t> </a:t>
              </a:r>
              <a:r>
                <a:rPr dirty="0" err="1"/>
                <a:t>metadatové</a:t>
              </a:r>
              <a:r>
                <a:rPr dirty="0"/>
                <a:t> </a:t>
              </a:r>
              <a:r>
                <a:rPr dirty="0" err="1"/>
                <a:t>filtry</a:t>
              </a:r>
              <a:endParaRPr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3706B"/>
                </a:solidFill>
                <a:latin typeface="Courier New"/>
              </a:defRPr>
            </a:pPr>
            <a:r>
              <a:t>[ KULIDA ]   /   [ ROZŠIŘUJÍCÍ NÁSTROJE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73706B"/>
                </a:solidFill>
                <a:latin typeface="Courier New"/>
              </a:defRPr>
            </a:pPr>
            <a:r>
              <a:t>SLIDE 07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49808"/>
            <a:ext cx="10728655" cy="13716"/>
          </a:xfrm>
          <a:prstGeom prst="rect">
            <a:avLst/>
          </a:prstGeom>
          <a:solidFill>
            <a:srgbClr val="E6E4DF"/>
          </a:solidFill>
          <a:ln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6E4DF"/>
          </a:solidFill>
          <a:ln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706B"/>
                </a:solidFill>
                <a:latin typeface="Courier New"/>
              </a:defRPr>
            </a:pPr>
            <a:r>
              <a:t>KULIDA – AI asistent pro normy a předpisy   •   Technický návrh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Helvetica"/>
              </a:defRPr>
            </a:pPr>
            <a:r>
              <a:t>Vyhledávání na webu &amp; rozšiřitelnost</a:t>
            </a:r>
          </a:p>
          <a:p>
            <a:pPr>
              <a:defRPr sz="1300">
                <a:solidFill>
                  <a:srgbClr val="4B5563"/>
                </a:solidFill>
                <a:latin typeface="Helvetica"/>
              </a:defRPr>
            </a:pPr>
            <a:r>
              <a:t>Asistent může využít internet pro informace, které v interních dokumentech nejsou, nebo pro ověření aktuálnosti.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524225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4693615" cy="102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urier New"/>
              </a:defRPr>
            </a:pPr>
            <a:r>
              <a:rPr lang="cs-CZ" noProof="0" dirty="0"/>
              <a:t>KDY SE POUŽIJE</a:t>
            </a:r>
          </a:p>
          <a:p>
            <a:pPr>
              <a:defRPr sz="1500" b="1">
                <a:solidFill>
                  <a:srgbClr val="111827"/>
                </a:solidFill>
                <a:latin typeface="Helvetica"/>
              </a:defRPr>
            </a:pPr>
            <a:r>
              <a:rPr lang="cs-CZ" noProof="0" dirty="0"/>
              <a:t>Chybějící data či aktuální stav</a:t>
            </a:r>
          </a:p>
          <a:p>
            <a:pPr>
              <a:spcBef>
                <a:spcPts val="400"/>
              </a:spcBef>
              <a:defRPr sz="1050">
                <a:solidFill>
                  <a:srgbClr val="4B5563"/>
                </a:solidFill>
                <a:latin typeface="Helvetica"/>
              </a:defRPr>
            </a:pPr>
            <a:r>
              <a:rPr lang="cs-CZ" sz="1100" noProof="0" dirty="0"/>
              <a:t>Když odpověď v dokumentech chybí, dotaz míří na novinky (zda vyšla nová vyhláška, stav normy v ČAS, parametry výrobce), nebo si web výslovně vyžádáte.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24225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4693615" cy="859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urier New"/>
              </a:defRPr>
            </a:pPr>
            <a:r>
              <a:rPr lang="cs-CZ" noProof="0" dirty="0"/>
              <a:t>JAK SE ODLIŠÍ</a:t>
            </a:r>
          </a:p>
          <a:p>
            <a:pPr>
              <a:defRPr sz="1500" b="1">
                <a:solidFill>
                  <a:srgbClr val="111827"/>
                </a:solidFill>
                <a:latin typeface="Helvetica"/>
              </a:defRPr>
            </a:pPr>
            <a:r>
              <a:rPr lang="cs-CZ" noProof="0" dirty="0"/>
              <a:t>Zřetelné označení externího zdroje</a:t>
            </a:r>
          </a:p>
          <a:p>
            <a:pPr>
              <a:spcBef>
                <a:spcPts val="400"/>
              </a:spcBef>
              <a:defRPr sz="1050">
                <a:solidFill>
                  <a:srgbClr val="4B5563"/>
                </a:solidFill>
                <a:latin typeface="Helvetica"/>
              </a:defRPr>
            </a:pPr>
            <a:r>
              <a:rPr lang="cs-CZ" sz="1100" noProof="0" dirty="0"/>
              <a:t>Výsledky z webu jsou v odpovědi barevně odlišeny s odkazem. Přednost mají oficiální zdroje (ČAS, e-Sbírka, ministerstva, weby výrobců).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24225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4693615" cy="859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urier New"/>
              </a:defRPr>
            </a:pPr>
            <a:r>
              <a:rPr lang="cs-CZ" noProof="0" dirty="0"/>
              <a:t>BEZPEČNOST DAT</a:t>
            </a:r>
          </a:p>
          <a:p>
            <a:pPr>
              <a:defRPr sz="1500" b="1">
                <a:solidFill>
                  <a:srgbClr val="111827"/>
                </a:solidFill>
                <a:latin typeface="Helvetica"/>
              </a:defRPr>
            </a:pPr>
            <a:r>
              <a:rPr lang="cs-CZ" noProof="0" dirty="0"/>
              <a:t>Žádný únik interních dokumentů</a:t>
            </a:r>
          </a:p>
          <a:p>
            <a:pPr>
              <a:spcBef>
                <a:spcPts val="400"/>
              </a:spcBef>
              <a:defRPr sz="1050">
                <a:solidFill>
                  <a:srgbClr val="4B5563"/>
                </a:solidFill>
                <a:latin typeface="Helvetica"/>
              </a:defRPr>
            </a:pPr>
            <a:r>
              <a:rPr lang="cs-CZ" sz="1100" noProof="0" dirty="0"/>
              <a:t>K poskytovateli vyhledávání (např. Brave </a:t>
            </a:r>
            <a:r>
              <a:rPr lang="cs-CZ" sz="1100" noProof="0" dirty="0" err="1"/>
              <a:t>Search</a:t>
            </a:r>
            <a:r>
              <a:rPr lang="cs-CZ" sz="1100" noProof="0" dirty="0"/>
              <a:t> API) odchází pouze anonymizovaný hledaný dotaz, nikdy vaše interní dokumenty.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23360"/>
            <a:ext cx="524225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4206240"/>
            <a:ext cx="4693615" cy="859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urier New"/>
              </a:defRPr>
            </a:pPr>
            <a:r>
              <a:rPr dirty="0"/>
              <a:t>CENA A OVLÁDÁNÍ</a:t>
            </a:r>
          </a:p>
          <a:p>
            <a:pPr>
              <a:defRPr sz="1500" b="1">
                <a:solidFill>
                  <a:srgbClr val="111827"/>
                </a:solidFill>
                <a:latin typeface="Helvetica"/>
              </a:defRPr>
            </a:pPr>
            <a:r>
              <a:rPr dirty="0" err="1"/>
              <a:t>Cca</a:t>
            </a:r>
            <a:r>
              <a:rPr dirty="0"/>
              <a:t> 0,11 </a:t>
            </a:r>
            <a:r>
              <a:rPr dirty="0" err="1"/>
              <a:t>Kč</a:t>
            </a:r>
            <a:r>
              <a:rPr dirty="0"/>
              <a:t> za </a:t>
            </a:r>
            <a:r>
              <a:rPr dirty="0" err="1"/>
              <a:t>vyhledání</a:t>
            </a:r>
            <a:endParaRPr dirty="0"/>
          </a:p>
          <a:p>
            <a:pPr>
              <a:spcBef>
                <a:spcPts val="400"/>
              </a:spcBef>
              <a:defRPr sz="1050">
                <a:solidFill>
                  <a:srgbClr val="4B5563"/>
                </a:solidFill>
                <a:latin typeface="Helvetica"/>
              </a:defRPr>
            </a:pPr>
            <a:r>
              <a:rPr lang="cs-CZ" sz="1100" noProof="0" dirty="0"/>
              <a:t>Hledání na webu lze zapnout globálně, na vyžádání nebo zcela zakázat. V rozpočtu počítáme, že web využije pětina dotazů.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3706B"/>
                </a:solidFill>
                <a:latin typeface="Courier New"/>
              </a:defRPr>
            </a:pPr>
            <a:r>
              <a:t>[ KULIDA ]   /   [ INFRASTRUKTURA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73706B"/>
                </a:solidFill>
                <a:latin typeface="Courier New"/>
              </a:defRPr>
            </a:pPr>
            <a:r>
              <a:t>SLIDE 08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49808"/>
            <a:ext cx="10728655" cy="13716"/>
          </a:xfrm>
          <a:prstGeom prst="rect">
            <a:avLst/>
          </a:prstGeom>
          <a:solidFill>
            <a:srgbClr val="E6E4DF"/>
          </a:solidFill>
          <a:ln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6E4DF"/>
          </a:solidFill>
          <a:ln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706B"/>
                </a:solidFill>
                <a:latin typeface="Courier New"/>
              </a:defRPr>
            </a:pPr>
            <a:r>
              <a:t>KULIDA – AI asistent pro normy a předpisy   •   Technický návrh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Helvetica"/>
              </a:defRPr>
            </a:pPr>
            <a:r>
              <a:rPr dirty="0" err="1"/>
              <a:t>Infrastruktura</a:t>
            </a:r>
            <a:r>
              <a:rPr dirty="0"/>
              <a:t> a </a:t>
            </a:r>
            <a:r>
              <a:rPr dirty="0" err="1"/>
              <a:t>suverenita</a:t>
            </a:r>
            <a:r>
              <a:rPr dirty="0"/>
              <a:t> </a:t>
            </a:r>
            <a:r>
              <a:rPr dirty="0" err="1"/>
              <a:t>dat</a:t>
            </a:r>
            <a:endParaRPr dirty="0"/>
          </a:p>
          <a:p>
            <a:pPr>
              <a:defRPr sz="1300">
                <a:solidFill>
                  <a:srgbClr val="4B5563"/>
                </a:solidFill>
                <a:latin typeface="Helvetica"/>
              </a:defRPr>
            </a:pPr>
            <a:r>
              <a:rPr dirty="0" err="1"/>
              <a:t>Aplikace</a:t>
            </a:r>
            <a:r>
              <a:rPr dirty="0"/>
              <a:t>, </a:t>
            </a:r>
            <a:r>
              <a:rPr dirty="0" err="1"/>
              <a:t>databáze</a:t>
            </a:r>
            <a:r>
              <a:rPr dirty="0"/>
              <a:t> a </a:t>
            </a:r>
            <a:r>
              <a:rPr dirty="0" err="1"/>
              <a:t>dokumenty</a:t>
            </a:r>
            <a:r>
              <a:rPr dirty="0"/>
              <a:t> </a:t>
            </a:r>
            <a:r>
              <a:rPr dirty="0" err="1"/>
              <a:t>běží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vašem</a:t>
            </a:r>
            <a:r>
              <a:rPr dirty="0"/>
              <a:t> </a:t>
            </a:r>
            <a:r>
              <a:rPr dirty="0" err="1"/>
              <a:t>serveru</a:t>
            </a:r>
            <a:r>
              <a:rPr dirty="0"/>
              <a:t>. </a:t>
            </a:r>
            <a:r>
              <a:rPr dirty="0" err="1"/>
              <a:t>Jazykový</a:t>
            </a:r>
            <a:r>
              <a:rPr dirty="0"/>
              <a:t> model se </a:t>
            </a:r>
            <a:r>
              <a:rPr dirty="0" err="1"/>
              <a:t>volá</a:t>
            </a:r>
            <a:r>
              <a:rPr dirty="0"/>
              <a:t> </a:t>
            </a:r>
            <a:r>
              <a:rPr dirty="0" err="1"/>
              <a:t>přes</a:t>
            </a:r>
            <a:r>
              <a:rPr dirty="0"/>
              <a:t> API. Do </a:t>
            </a:r>
            <a:r>
              <a:rPr dirty="0" err="1"/>
              <a:t>cloudu</a:t>
            </a:r>
            <a:r>
              <a:rPr dirty="0"/>
              <a:t> </a:t>
            </a:r>
            <a:r>
              <a:rPr dirty="0" err="1"/>
              <a:t>odchází</a:t>
            </a:r>
            <a:r>
              <a:rPr dirty="0"/>
              <a:t> </a:t>
            </a:r>
            <a:r>
              <a:rPr dirty="0" err="1"/>
              <a:t>jen</a:t>
            </a:r>
            <a:r>
              <a:rPr dirty="0"/>
              <a:t> </a:t>
            </a:r>
            <a:r>
              <a:rPr dirty="0" err="1"/>
              <a:t>dotaz</a:t>
            </a:r>
            <a:r>
              <a:rPr dirty="0"/>
              <a:t> a </a:t>
            </a:r>
            <a:r>
              <a:rPr dirty="0" err="1"/>
              <a:t>vybrané</a:t>
            </a:r>
            <a:r>
              <a:rPr dirty="0"/>
              <a:t> </a:t>
            </a:r>
            <a:r>
              <a:rPr dirty="0" err="1"/>
              <a:t>pasáže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5242255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5207" y="2447163"/>
            <a:ext cx="475488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urier New"/>
              </a:defRPr>
            </a:pPr>
            <a:r>
              <a:rPr lang="cs-CZ" noProof="0" dirty="0"/>
              <a:t>VARIANTA A (DOPORUČENO)</a:t>
            </a:r>
          </a:p>
          <a:p>
            <a:pPr>
              <a:defRPr sz="1600" b="1">
                <a:solidFill>
                  <a:srgbClr val="111827"/>
                </a:solidFill>
                <a:latin typeface="Helvetica"/>
              </a:defRPr>
            </a:pPr>
            <a:r>
              <a:rPr lang="cs-CZ" noProof="0" dirty="0" err="1"/>
              <a:t>Embedding</a:t>
            </a:r>
            <a:r>
              <a:rPr lang="cs-CZ" noProof="0" dirty="0"/>
              <a:t> &amp; </a:t>
            </a:r>
            <a:r>
              <a:rPr lang="cs-CZ" noProof="0" dirty="0" err="1"/>
              <a:t>Reranker</a:t>
            </a:r>
            <a:r>
              <a:rPr lang="cs-CZ" noProof="0" dirty="0"/>
              <a:t> v cloudu</a:t>
            </a:r>
          </a:p>
          <a:p>
            <a:pPr>
              <a:defRPr sz="1600" b="1">
                <a:solidFill>
                  <a:srgbClr val="111827"/>
                </a:solidFill>
                <a:latin typeface="Helvetica"/>
              </a:defRPr>
            </a:pPr>
            <a:endParaRPr lang="cs-CZ" noProof="0" dirty="0"/>
          </a:p>
          <a:p>
            <a:pPr>
              <a:spcBef>
                <a:spcPts val="600"/>
              </a:spcBef>
              <a:defRPr sz="1050">
                <a:solidFill>
                  <a:srgbClr val="4B5563"/>
                </a:solidFill>
                <a:latin typeface="Helvetica"/>
              </a:defRPr>
            </a:pPr>
            <a:r>
              <a:rPr lang="cs-CZ" sz="1100" noProof="0" dirty="0"/>
              <a:t>• Kde běží: u poskytovatele cloudu spolu s LLM</a:t>
            </a:r>
          </a:p>
          <a:p>
            <a:pPr>
              <a:spcBef>
                <a:spcPts val="600"/>
              </a:spcBef>
              <a:defRPr sz="1050">
                <a:solidFill>
                  <a:srgbClr val="4B5563"/>
                </a:solidFill>
                <a:latin typeface="Helvetica"/>
              </a:defRPr>
            </a:pPr>
            <a:r>
              <a:rPr lang="cs-CZ" sz="1100" noProof="0" dirty="0"/>
              <a:t>• Hardware: bez grafické karty (běžný CPU server)</a:t>
            </a:r>
          </a:p>
          <a:p>
            <a:pPr>
              <a:spcBef>
                <a:spcPts val="600"/>
              </a:spcBef>
              <a:defRPr sz="1050">
                <a:solidFill>
                  <a:srgbClr val="4B5563"/>
                </a:solidFill>
                <a:latin typeface="Helvetica"/>
              </a:defRPr>
            </a:pPr>
            <a:r>
              <a:rPr lang="cs-CZ" sz="1100" noProof="0" dirty="0"/>
              <a:t>• Platba: průběžně cca 0,09 Kč za dotaz</a:t>
            </a:r>
          </a:p>
          <a:p>
            <a:pPr>
              <a:spcBef>
                <a:spcPts val="600"/>
              </a:spcBef>
              <a:defRPr sz="1050">
                <a:solidFill>
                  <a:srgbClr val="4B5563"/>
                </a:solidFill>
                <a:latin typeface="Helvetica"/>
              </a:defRPr>
            </a:pPr>
            <a:r>
              <a:rPr lang="cs-CZ" sz="1100" noProof="0" dirty="0"/>
              <a:t>• Správa: na vaší straně nulová správa modelů</a:t>
            </a:r>
          </a:p>
          <a:p>
            <a:pPr>
              <a:spcBef>
                <a:spcPts val="600"/>
              </a:spcBef>
              <a:defRPr sz="1050">
                <a:solidFill>
                  <a:srgbClr val="4B5563"/>
                </a:solidFill>
                <a:latin typeface="Helvetica"/>
              </a:defRPr>
            </a:pPr>
            <a:r>
              <a:rPr lang="cs-CZ" sz="1100" noProof="0" dirty="0"/>
              <a:t>• Výhoda: nejnižší vstupní náklady, okamžitý start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242255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0D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1607" y="2447163"/>
            <a:ext cx="475488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11827"/>
                </a:solidFill>
                <a:latin typeface="Courier New"/>
              </a:defRPr>
            </a:pPr>
            <a:r>
              <a:rPr dirty="0"/>
              <a:t>VARIANTA B (MAX. SOUKROMÍ)</a:t>
            </a:r>
          </a:p>
          <a:p>
            <a:pPr>
              <a:defRPr sz="1600" b="1">
                <a:solidFill>
                  <a:srgbClr val="111827"/>
                </a:solidFill>
                <a:latin typeface="Helvetica"/>
              </a:defRPr>
            </a:pPr>
            <a:r>
              <a:rPr dirty="0"/>
              <a:t>Embedding &amp; </a:t>
            </a:r>
            <a:r>
              <a:rPr dirty="0" err="1"/>
              <a:t>Reranker</a:t>
            </a:r>
            <a:r>
              <a:rPr dirty="0"/>
              <a:t> </a:t>
            </a:r>
            <a:r>
              <a:rPr dirty="0" err="1"/>
              <a:t>lokálně</a:t>
            </a:r>
            <a:endParaRPr lang="cs-CZ" dirty="0"/>
          </a:p>
          <a:p>
            <a:pPr>
              <a:defRPr sz="1600" b="1">
                <a:solidFill>
                  <a:srgbClr val="111827"/>
                </a:solidFill>
                <a:latin typeface="Helvetica"/>
              </a:defRPr>
            </a:pPr>
            <a:endParaRPr dirty="0"/>
          </a:p>
          <a:p>
            <a:pPr>
              <a:spcBef>
                <a:spcPts val="600"/>
              </a:spcBef>
              <a:defRPr sz="1050">
                <a:solidFill>
                  <a:srgbClr val="4B5563"/>
                </a:solidFill>
                <a:latin typeface="Helvetica"/>
              </a:defRPr>
            </a:pPr>
            <a:r>
              <a:rPr lang="cs-CZ" sz="1100" noProof="0" dirty="0"/>
              <a:t>• Kde běží: přímo na vašem serveru</a:t>
            </a:r>
          </a:p>
          <a:p>
            <a:pPr>
              <a:spcBef>
                <a:spcPts val="600"/>
              </a:spcBef>
              <a:defRPr sz="1050">
                <a:solidFill>
                  <a:srgbClr val="4B5563"/>
                </a:solidFill>
                <a:latin typeface="Helvetica"/>
              </a:defRPr>
            </a:pPr>
            <a:r>
              <a:rPr lang="cs-CZ" sz="1100" noProof="0" dirty="0"/>
              <a:t>• Hardware: v pilotu stačí CPU, v provozu GPU (RTX 4000 / L4)</a:t>
            </a:r>
          </a:p>
          <a:p>
            <a:pPr>
              <a:spcBef>
                <a:spcPts val="600"/>
              </a:spcBef>
              <a:defRPr sz="1050">
                <a:solidFill>
                  <a:srgbClr val="4B5563"/>
                </a:solidFill>
                <a:latin typeface="Helvetica"/>
              </a:defRPr>
            </a:pPr>
            <a:r>
              <a:rPr lang="cs-CZ" sz="1100" noProof="0" dirty="0"/>
              <a:t>• Platba: jednorázově za hardware (žádné poplatky za </a:t>
            </a:r>
            <a:r>
              <a:rPr lang="cs-CZ" sz="1100" noProof="0" dirty="0" err="1"/>
              <a:t>embedding</a:t>
            </a:r>
            <a:r>
              <a:rPr lang="cs-CZ" sz="1100" noProof="0" dirty="0"/>
              <a:t>)</a:t>
            </a:r>
          </a:p>
          <a:p>
            <a:pPr>
              <a:spcBef>
                <a:spcPts val="600"/>
              </a:spcBef>
              <a:defRPr sz="1050">
                <a:solidFill>
                  <a:srgbClr val="4B5563"/>
                </a:solidFill>
                <a:latin typeface="Helvetica"/>
              </a:defRPr>
            </a:pPr>
            <a:r>
              <a:rPr lang="cs-CZ" sz="1100" noProof="0" dirty="0"/>
              <a:t>• Text dokumentů: pro indexaci nikdy neopouští server</a:t>
            </a:r>
          </a:p>
          <a:p>
            <a:pPr>
              <a:spcBef>
                <a:spcPts val="600"/>
              </a:spcBef>
              <a:defRPr sz="1050">
                <a:solidFill>
                  <a:srgbClr val="4B5563"/>
                </a:solidFill>
                <a:latin typeface="Helvetica"/>
              </a:defRPr>
            </a:pPr>
            <a:r>
              <a:rPr lang="cs-CZ" sz="1100" noProof="0" dirty="0"/>
              <a:t>• Výhoda: maximální datová izolace celého indexu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40680"/>
            <a:ext cx="10728655" cy="685800"/>
          </a:xfrm>
          <a:prstGeom prst="roundRect">
            <a:avLst/>
          </a:prstGeom>
          <a:solidFill>
            <a:srgbClr val="F4F4F0"/>
          </a:solidFill>
          <a:ln w="12700">
            <a:solidFill>
              <a:srgbClr val="E6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5532120"/>
            <a:ext cx="10139314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11827"/>
                </a:solidFill>
                <a:latin typeface="Courier New"/>
              </a:defRPr>
            </a:pPr>
            <a:r>
              <a:rPr dirty="0"/>
              <a:t>ARCHITEKTONICKÝ PRINCIP: </a:t>
            </a:r>
            <a:r>
              <a:rPr dirty="0" err="1"/>
              <a:t>Celá</a:t>
            </a:r>
            <a:r>
              <a:rPr dirty="0"/>
              <a:t> </a:t>
            </a:r>
            <a:r>
              <a:rPr dirty="0" err="1"/>
              <a:t>databáze</a:t>
            </a:r>
            <a:r>
              <a:rPr dirty="0"/>
              <a:t> </a:t>
            </a:r>
            <a:r>
              <a:rPr dirty="0" err="1"/>
              <a:t>nikdy</a:t>
            </a:r>
            <a:r>
              <a:rPr dirty="0"/>
              <a:t> </a:t>
            </a:r>
            <a:r>
              <a:rPr dirty="0" err="1"/>
              <a:t>neodchází</a:t>
            </a:r>
            <a:r>
              <a:rPr dirty="0"/>
              <a:t> </a:t>
            </a:r>
            <a:r>
              <a:rPr dirty="0" err="1"/>
              <a:t>ven.</a:t>
            </a:r>
            <a:r>
              <a:rPr dirty="0"/>
              <a:t> Model </a:t>
            </a:r>
            <a:r>
              <a:rPr dirty="0" err="1"/>
              <a:t>dostává</a:t>
            </a:r>
            <a:r>
              <a:rPr dirty="0"/>
              <a:t> v </a:t>
            </a:r>
            <a:r>
              <a:rPr dirty="0" err="1"/>
              <a:t>promptu</a:t>
            </a:r>
            <a:r>
              <a:rPr dirty="0"/>
              <a:t> </a:t>
            </a:r>
            <a:r>
              <a:rPr dirty="0" err="1"/>
              <a:t>pouze</a:t>
            </a:r>
            <a:r>
              <a:rPr dirty="0"/>
              <a:t> 3–5 </a:t>
            </a:r>
            <a:r>
              <a:rPr dirty="0" err="1"/>
              <a:t>vybraných</a:t>
            </a:r>
            <a:r>
              <a:rPr dirty="0"/>
              <a:t> </a:t>
            </a:r>
            <a:r>
              <a:rPr dirty="0" err="1"/>
              <a:t>článků</a:t>
            </a:r>
            <a:r>
              <a:rPr dirty="0"/>
              <a:t> </a:t>
            </a:r>
            <a:r>
              <a:rPr dirty="0" err="1"/>
              <a:t>potřebných</a:t>
            </a:r>
            <a:r>
              <a:rPr dirty="0"/>
              <a:t> k </a:t>
            </a:r>
            <a:r>
              <a:rPr dirty="0" err="1"/>
              <a:t>zodpovězení</a:t>
            </a:r>
            <a:endParaRPr lang="cs-CZ" dirty="0"/>
          </a:p>
          <a:p>
            <a:pPr>
              <a:defRPr sz="950" b="1">
                <a:solidFill>
                  <a:srgbClr val="111827"/>
                </a:solidFill>
                <a:latin typeface="Courier New"/>
              </a:defRPr>
            </a:pPr>
            <a:r>
              <a:rPr dirty="0" err="1"/>
              <a:t>položeného</a:t>
            </a:r>
            <a:r>
              <a:rPr dirty="0"/>
              <a:t> </a:t>
            </a:r>
            <a:r>
              <a:rPr dirty="0" err="1"/>
              <a:t>dotazu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urier New"/>
              </a:defRPr>
            </a:pPr>
            <a:r>
              <a:t>[ KULIDA ]   /   [ SERVER &amp; HARDWARE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888888"/>
                </a:solidFill>
                <a:latin typeface="Courier New"/>
              </a:defRPr>
            </a:pPr>
            <a:r>
              <a:t>SLIDE 09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49808"/>
            <a:ext cx="10728655" cy="13716"/>
          </a:xfrm>
          <a:prstGeom prst="rect">
            <a:avLst/>
          </a:prstGeom>
          <a:solidFill>
            <a:srgbClr val="333330"/>
          </a:solidFill>
          <a:ln>
            <a:solidFill>
              <a:srgbClr val="333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333330"/>
          </a:solidFill>
          <a:ln>
            <a:solidFill>
              <a:srgbClr val="333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88888"/>
                </a:solidFill>
                <a:latin typeface="Courier New"/>
              </a:defRPr>
            </a:pPr>
            <a:r>
              <a:t>KULIDA – AI asistent pro normy a předpisy   •   Technický návrh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"/>
              </a:defRPr>
            </a:pPr>
            <a:r>
              <a:rPr dirty="0" err="1"/>
              <a:t>Doporučený</a:t>
            </a:r>
            <a:r>
              <a:rPr dirty="0"/>
              <a:t> server: Pilot vs. </a:t>
            </a:r>
            <a:r>
              <a:rPr dirty="0" err="1"/>
              <a:t>Plný</a:t>
            </a:r>
            <a:r>
              <a:rPr dirty="0"/>
              <a:t> </a:t>
            </a:r>
            <a:r>
              <a:rPr dirty="0" err="1"/>
              <a:t>provoz</a:t>
            </a:r>
            <a:endParaRPr dirty="0"/>
          </a:p>
          <a:p>
            <a:pPr>
              <a:defRPr sz="1300">
                <a:solidFill>
                  <a:srgbClr val="DDDDDD"/>
                </a:solidFill>
                <a:latin typeface="Helvetica"/>
              </a:defRPr>
            </a:pPr>
            <a:r>
              <a:rPr dirty="0"/>
              <a:t>Linux, </a:t>
            </a:r>
            <a:r>
              <a:rPr dirty="0" err="1"/>
              <a:t>aplikace</a:t>
            </a:r>
            <a:r>
              <a:rPr dirty="0"/>
              <a:t> v </a:t>
            </a:r>
            <a:r>
              <a:rPr dirty="0" err="1"/>
              <a:t>kontejnerech</a:t>
            </a:r>
            <a:r>
              <a:rPr dirty="0"/>
              <a:t> Docker, </a:t>
            </a:r>
            <a:r>
              <a:rPr dirty="0" err="1"/>
              <a:t>přístup</a:t>
            </a:r>
            <a:r>
              <a:rPr dirty="0"/>
              <a:t> z </a:t>
            </a:r>
            <a:r>
              <a:rPr dirty="0" err="1"/>
              <a:t>firemní</a:t>
            </a:r>
            <a:r>
              <a:rPr dirty="0"/>
              <a:t> </a:t>
            </a:r>
            <a:r>
              <a:rPr dirty="0" err="1"/>
              <a:t>sítě</a:t>
            </a:r>
            <a:r>
              <a:rPr dirty="0"/>
              <a:t> / VPN, </a:t>
            </a:r>
            <a:r>
              <a:rPr dirty="0" err="1"/>
              <a:t>odchozí</a:t>
            </a:r>
            <a:r>
              <a:rPr dirty="0"/>
              <a:t> HTTPS a </a:t>
            </a:r>
            <a:r>
              <a:rPr dirty="0" err="1"/>
              <a:t>denní</a:t>
            </a:r>
            <a:r>
              <a:rPr dirty="0"/>
              <a:t> </a:t>
            </a:r>
            <a:r>
              <a:rPr dirty="0" err="1"/>
              <a:t>zálohy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242255" cy="3383280"/>
          </a:xfrm>
          <a:prstGeom prst="roundRect">
            <a:avLst/>
          </a:prstGeom>
          <a:solidFill>
            <a:srgbClr val="161614"/>
          </a:solidFill>
          <a:ln w="12700">
            <a:solidFill>
              <a:srgbClr val="333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46936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urier New"/>
              </a:defRPr>
            </a:pPr>
            <a:r>
              <a:rPr lang="en-US" dirty="0"/>
              <a:t>Pilot (100 - 200 </a:t>
            </a:r>
            <a:r>
              <a:rPr lang="en-US" dirty="0" err="1"/>
              <a:t>norem</a:t>
            </a:r>
            <a:r>
              <a:rPr lang="en-US" dirty="0"/>
              <a:t>)</a:t>
            </a:r>
          </a:p>
          <a:p>
            <a:pPr>
              <a:defRPr sz="1600" b="1">
                <a:solidFill>
                  <a:srgbClr val="FFFFFF"/>
                </a:solidFill>
                <a:latin typeface="Helvetica"/>
              </a:defRPr>
            </a:pPr>
            <a:r>
              <a:rPr lang="cs-CZ" dirty="0"/>
              <a:t>Hardware požadavky</a:t>
            </a:r>
            <a:endParaRPr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  <a:defRPr sz="1100">
                <a:solidFill>
                  <a:srgbClr val="BBBBBB"/>
                </a:solidFill>
                <a:latin typeface="Helvetica"/>
              </a:defRPr>
            </a:pPr>
            <a:r>
              <a:rPr dirty="0" err="1"/>
              <a:t>Procesor</a:t>
            </a:r>
            <a:r>
              <a:rPr dirty="0"/>
              <a:t>: 4 </a:t>
            </a:r>
            <a:r>
              <a:rPr dirty="0" err="1"/>
              <a:t>jádra</a:t>
            </a:r>
            <a:r>
              <a:rPr dirty="0"/>
              <a:t> (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variantě</a:t>
            </a:r>
            <a:r>
              <a:rPr dirty="0"/>
              <a:t> B 8 </a:t>
            </a:r>
            <a:r>
              <a:rPr dirty="0" err="1"/>
              <a:t>jader</a:t>
            </a:r>
            <a:r>
              <a:rPr dirty="0"/>
              <a:t>)</a:t>
            </a:r>
            <a:endParaRPr lang="cs-CZ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  <a:defRPr sz="1100">
                <a:solidFill>
                  <a:srgbClr val="BBBBBB"/>
                </a:solidFill>
                <a:latin typeface="Helvetica"/>
              </a:defRPr>
            </a:pPr>
            <a:r>
              <a:rPr dirty="0" err="1"/>
              <a:t>Operační</a:t>
            </a:r>
            <a:r>
              <a:rPr dirty="0"/>
              <a:t> </a:t>
            </a:r>
            <a:r>
              <a:rPr dirty="0" err="1"/>
              <a:t>paměť</a:t>
            </a:r>
            <a:r>
              <a:rPr dirty="0"/>
              <a:t>: 16 GB RAM (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variantě</a:t>
            </a:r>
            <a:r>
              <a:rPr dirty="0"/>
              <a:t> B 32 GB) </a:t>
            </a:r>
            <a:endParaRPr lang="cs-CZ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  <a:defRPr sz="1100">
                <a:solidFill>
                  <a:srgbClr val="BBBBBB"/>
                </a:solidFill>
                <a:latin typeface="Helvetica"/>
              </a:defRPr>
            </a:pPr>
            <a:r>
              <a:rPr dirty="0" err="1"/>
              <a:t>Úložiště</a:t>
            </a:r>
            <a:r>
              <a:rPr dirty="0"/>
              <a:t>: 250 GB SSD</a:t>
            </a:r>
            <a:endParaRPr lang="cs-CZ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  <a:defRPr sz="1100">
                <a:solidFill>
                  <a:srgbClr val="BBBBBB"/>
                </a:solidFill>
                <a:latin typeface="Helvetica"/>
              </a:defRPr>
            </a:pPr>
            <a:r>
              <a:rPr dirty="0" err="1"/>
              <a:t>Grafická</a:t>
            </a:r>
            <a:r>
              <a:rPr dirty="0"/>
              <a:t> </a:t>
            </a:r>
            <a:r>
              <a:rPr dirty="0" err="1"/>
              <a:t>karta</a:t>
            </a:r>
            <a:r>
              <a:rPr dirty="0"/>
              <a:t>: </a:t>
            </a:r>
            <a:r>
              <a:rPr dirty="0" err="1"/>
              <a:t>Není</a:t>
            </a:r>
            <a:r>
              <a:rPr dirty="0"/>
              <a:t> </a:t>
            </a:r>
            <a:r>
              <a:rPr dirty="0" err="1"/>
              <a:t>potřeba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42255" cy="3383280"/>
          </a:xfrm>
          <a:prstGeom prst="roundRect">
            <a:avLst/>
          </a:prstGeom>
          <a:solidFill>
            <a:srgbClr val="161614"/>
          </a:solidFill>
          <a:ln w="12700">
            <a:solidFill>
              <a:srgbClr val="333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6936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urier New"/>
              </a:defRPr>
            </a:pPr>
            <a:r>
              <a:rPr lang="cs-CZ" dirty="0"/>
              <a:t>Plný provoz</a:t>
            </a:r>
          </a:p>
          <a:p>
            <a:pPr>
              <a:defRPr sz="1600" b="1">
                <a:solidFill>
                  <a:srgbClr val="FFFFFF"/>
                </a:solidFill>
                <a:latin typeface="Helvetica"/>
              </a:defRPr>
            </a:pPr>
            <a:r>
              <a:rPr lang="cs-CZ" dirty="0"/>
              <a:t>Hardware požadavky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  <a:defRPr sz="1100">
                <a:solidFill>
                  <a:srgbClr val="BBBBBB"/>
                </a:solidFill>
                <a:latin typeface="Helvetica"/>
              </a:defRPr>
            </a:pPr>
            <a:r>
              <a:rPr lang="en-US" dirty="0" err="1"/>
              <a:t>Procesor</a:t>
            </a:r>
            <a:r>
              <a:rPr lang="en-US" dirty="0"/>
              <a:t>: 8 </a:t>
            </a:r>
            <a:r>
              <a:rPr lang="en-US" dirty="0" err="1"/>
              <a:t>jader</a:t>
            </a:r>
            <a:endParaRPr lang="en-US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  <a:defRPr sz="1100">
                <a:solidFill>
                  <a:srgbClr val="BBBBBB"/>
                </a:solidFill>
                <a:latin typeface="Helvetica"/>
              </a:defRPr>
            </a:pPr>
            <a:r>
              <a:rPr lang="en-US" dirty="0" err="1"/>
              <a:t>Operační</a:t>
            </a:r>
            <a:r>
              <a:rPr lang="en-US" dirty="0"/>
              <a:t> </a:t>
            </a:r>
            <a:r>
              <a:rPr lang="en-US" dirty="0" err="1"/>
              <a:t>paměť</a:t>
            </a:r>
            <a:r>
              <a:rPr lang="en-US" dirty="0"/>
              <a:t>: 32 – 64GB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  <a:defRPr sz="1100">
                <a:solidFill>
                  <a:srgbClr val="BBBBBB"/>
                </a:solidFill>
                <a:latin typeface="Helvetica"/>
              </a:defRPr>
            </a:pPr>
            <a:r>
              <a:rPr lang="en-US" dirty="0" err="1"/>
              <a:t>Úložiště</a:t>
            </a:r>
            <a:r>
              <a:rPr lang="en-US" dirty="0"/>
              <a:t>: 1 TB SSD, 2 </a:t>
            </a:r>
            <a:r>
              <a:rPr lang="en-US" dirty="0" err="1"/>
              <a:t>disky</a:t>
            </a:r>
            <a:r>
              <a:rPr lang="en-US" dirty="0"/>
              <a:t> v RAID 1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  <a:defRPr sz="1100">
                <a:solidFill>
                  <a:srgbClr val="BBBBBB"/>
                </a:solidFill>
                <a:latin typeface="Helvetica"/>
              </a:defRPr>
            </a:pPr>
            <a:r>
              <a:rPr lang="en-US" dirty="0" err="1"/>
              <a:t>Grafická</a:t>
            </a:r>
            <a:r>
              <a:rPr lang="en-US" dirty="0"/>
              <a:t> </a:t>
            </a:r>
            <a:r>
              <a:rPr lang="en-US" dirty="0" err="1"/>
              <a:t>karta</a:t>
            </a:r>
            <a:r>
              <a:rPr lang="en-US" dirty="0"/>
              <a:t>: </a:t>
            </a:r>
            <a:r>
              <a:rPr lang="en-US" dirty="0" err="1"/>
              <a:t>jen</a:t>
            </a:r>
            <a:r>
              <a:rPr lang="en-US" dirty="0"/>
              <a:t> </a:t>
            </a:r>
            <a:r>
              <a:rPr lang="en-US" dirty="0" err="1"/>
              <a:t>varianta</a:t>
            </a:r>
            <a:r>
              <a:rPr lang="en-US" dirty="0"/>
              <a:t> B (RTX 4000 Ada / L4)</a:t>
            </a:r>
            <a:endParaRPr lang="cs-CZ" dirty="0"/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720581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EEEEE"/>
                </a:solidFill>
                <a:latin typeface="Helvetica"/>
              </a:defRPr>
            </a:pPr>
            <a:r>
              <a:rPr dirty="0"/>
              <a:t>ŠPIČKOVÁ KAPACITA: </a:t>
            </a:r>
            <a:r>
              <a:rPr dirty="0" err="1"/>
              <a:t>Při</a:t>
            </a:r>
            <a:r>
              <a:rPr dirty="0"/>
              <a:t> </a:t>
            </a:r>
            <a:r>
              <a:rPr dirty="0" err="1"/>
              <a:t>práci</a:t>
            </a:r>
            <a:r>
              <a:rPr dirty="0"/>
              <a:t> </a:t>
            </a:r>
            <a:r>
              <a:rPr dirty="0" err="1"/>
              <a:t>všech</a:t>
            </a:r>
            <a:r>
              <a:rPr dirty="0"/>
              <a:t> 40 </a:t>
            </a:r>
            <a:r>
              <a:rPr dirty="0" err="1"/>
              <a:t>lidí</a:t>
            </a:r>
            <a:r>
              <a:rPr dirty="0"/>
              <a:t> </a:t>
            </a:r>
            <a:r>
              <a:rPr dirty="0" err="1"/>
              <a:t>naráz</a:t>
            </a:r>
            <a:r>
              <a:rPr dirty="0"/>
              <a:t> (</a:t>
            </a:r>
            <a:r>
              <a:rPr dirty="0" err="1"/>
              <a:t>cca</a:t>
            </a:r>
            <a:r>
              <a:rPr dirty="0"/>
              <a:t> 20 </a:t>
            </a:r>
            <a:r>
              <a:rPr dirty="0" err="1"/>
              <a:t>dotazů</a:t>
            </a:r>
            <a:r>
              <a:rPr dirty="0"/>
              <a:t>/min) server </a:t>
            </a:r>
            <a:r>
              <a:rPr dirty="0" err="1"/>
              <a:t>většinu</a:t>
            </a:r>
            <a:r>
              <a:rPr dirty="0"/>
              <a:t> </a:t>
            </a:r>
            <a:r>
              <a:rPr dirty="0" err="1"/>
              <a:t>času</a:t>
            </a:r>
            <a:r>
              <a:rPr dirty="0"/>
              <a:t> </a:t>
            </a:r>
            <a:r>
              <a:rPr dirty="0" err="1"/>
              <a:t>čeká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odpověď</a:t>
            </a:r>
            <a:r>
              <a:rPr dirty="0"/>
              <a:t> LLM. </a:t>
            </a:r>
            <a:endParaRPr lang="cs-CZ" dirty="0"/>
          </a:p>
          <a:p>
            <a:pPr>
              <a:defRPr sz="1000" b="1">
                <a:solidFill>
                  <a:srgbClr val="EEEEEE"/>
                </a:solidFill>
                <a:latin typeface="Helvetica"/>
              </a:defRPr>
            </a:pPr>
            <a:r>
              <a:rPr dirty="0" err="1"/>
              <a:t>Kapacitu</a:t>
            </a:r>
            <a:r>
              <a:rPr dirty="0"/>
              <a:t> API v </a:t>
            </a:r>
            <a:r>
              <a:rPr dirty="0" err="1"/>
              <a:t>cloudu</a:t>
            </a:r>
            <a:r>
              <a:rPr dirty="0"/>
              <a:t> </a:t>
            </a:r>
            <a:r>
              <a:rPr dirty="0" err="1"/>
              <a:t>nastavíme</a:t>
            </a:r>
            <a:r>
              <a:rPr dirty="0"/>
              <a:t> </a:t>
            </a:r>
            <a:r>
              <a:rPr dirty="0" err="1"/>
              <a:t>podle</a:t>
            </a:r>
            <a:r>
              <a:rPr dirty="0"/>
              <a:t> </a:t>
            </a:r>
            <a:r>
              <a:rPr dirty="0" err="1"/>
              <a:t>špičky</a:t>
            </a:r>
            <a:r>
              <a:rPr dirty="0"/>
              <a:t> a </a:t>
            </a:r>
            <a:r>
              <a:rPr dirty="0" err="1"/>
              <a:t>před</a:t>
            </a:r>
            <a:r>
              <a:rPr dirty="0"/>
              <a:t> </a:t>
            </a:r>
            <a:r>
              <a:rPr dirty="0" err="1"/>
              <a:t>školením</a:t>
            </a:r>
            <a:r>
              <a:rPr dirty="0"/>
              <a:t> </a:t>
            </a:r>
            <a:r>
              <a:rPr dirty="0" err="1"/>
              <a:t>či</a:t>
            </a:r>
            <a:r>
              <a:rPr dirty="0"/>
              <a:t> </a:t>
            </a:r>
            <a:r>
              <a:rPr dirty="0" err="1"/>
              <a:t>uzávěrkou</a:t>
            </a:r>
            <a:r>
              <a:rPr dirty="0"/>
              <a:t> ji </a:t>
            </a:r>
            <a:r>
              <a:rPr dirty="0" err="1"/>
              <a:t>lze</a:t>
            </a:r>
            <a:r>
              <a:rPr dirty="0"/>
              <a:t> </a:t>
            </a:r>
            <a:r>
              <a:rPr dirty="0" err="1"/>
              <a:t>dočasně</a:t>
            </a:r>
            <a:r>
              <a:rPr dirty="0"/>
              <a:t> </a:t>
            </a:r>
            <a:r>
              <a:rPr dirty="0" err="1"/>
              <a:t>navýšit</a:t>
            </a:r>
            <a:r>
              <a:rPr dirty="0"/>
              <a:t>.</a:t>
            </a:r>
            <a:endParaRPr lang="cs-CZ" dirty="0"/>
          </a:p>
          <a:p>
            <a:pPr>
              <a:defRPr sz="1000" b="1">
                <a:solidFill>
                  <a:srgbClr val="EEEEEE"/>
                </a:solidFill>
                <a:latin typeface="Helvetica"/>
              </a:defRPr>
            </a:pPr>
            <a:endParaRPr lang="en-US" dirty="0"/>
          </a:p>
          <a:p>
            <a:pPr>
              <a:defRPr sz="1000" b="1">
                <a:solidFill>
                  <a:srgbClr val="EEEEEE"/>
                </a:solidFill>
                <a:latin typeface="Helvetica"/>
              </a:defRPr>
            </a:pPr>
            <a:r>
              <a:rPr lang="en-US" dirty="0" err="1"/>
              <a:t>Pozn</a:t>
            </a:r>
            <a:r>
              <a:rPr lang="en-US" dirty="0"/>
              <a:t>. </a:t>
            </a:r>
            <a:r>
              <a:rPr lang="en-US" dirty="0" err="1"/>
              <a:t>Stačí</a:t>
            </a:r>
            <a:r>
              <a:rPr lang="en-US" dirty="0"/>
              <a:t> </a:t>
            </a:r>
            <a:r>
              <a:rPr lang="en-US" dirty="0" err="1"/>
              <a:t>pořídit</a:t>
            </a:r>
            <a:r>
              <a:rPr lang="en-US" dirty="0"/>
              <a:t> </a:t>
            </a:r>
            <a:r>
              <a:rPr lang="en-US" dirty="0" err="1"/>
              <a:t>jeden</a:t>
            </a:r>
            <a:r>
              <a:rPr lang="en-US" dirty="0"/>
              <a:t> </a:t>
            </a:r>
            <a:r>
              <a:rPr lang="en-US" dirty="0" err="1"/>
              <a:t>kus</a:t>
            </a:r>
            <a:r>
              <a:rPr lang="en-US" dirty="0"/>
              <a:t> </a:t>
            </a:r>
            <a:r>
              <a:rPr lang="en-US" dirty="0" err="1"/>
              <a:t>hardwaru</a:t>
            </a:r>
            <a:r>
              <a:rPr lang="en-US" dirty="0"/>
              <a:t> s </a:t>
            </a:r>
            <a:r>
              <a:rPr lang="en-US" dirty="0" err="1"/>
              <a:t>možností</a:t>
            </a:r>
            <a:r>
              <a:rPr lang="en-US" dirty="0"/>
              <a:t> </a:t>
            </a:r>
            <a:r>
              <a:rPr lang="en-US" dirty="0" err="1"/>
              <a:t>následně</a:t>
            </a:r>
            <a:r>
              <a:rPr lang="en-US" dirty="0"/>
              <a:t> </a:t>
            </a:r>
            <a:r>
              <a:rPr lang="en-US" dirty="0" err="1"/>
              <a:t>upgradovat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3706B"/>
                </a:solidFill>
                <a:latin typeface="Courier New"/>
              </a:defRPr>
            </a:pPr>
            <a:r>
              <a:t>[ KULIDA ]   /   [ FINANČNÍ MODEL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73706B"/>
                </a:solidFill>
                <a:latin typeface="Courier New"/>
              </a:defRPr>
            </a:pPr>
            <a:r>
              <a:t>SLIDE 10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49808"/>
            <a:ext cx="10728655" cy="13716"/>
          </a:xfrm>
          <a:prstGeom prst="rect">
            <a:avLst/>
          </a:prstGeom>
          <a:solidFill>
            <a:srgbClr val="E6E4DF"/>
          </a:solidFill>
          <a:ln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6E4DF"/>
          </a:solidFill>
          <a:ln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706B"/>
                </a:solidFill>
                <a:latin typeface="Courier New"/>
              </a:defRPr>
            </a:pPr>
            <a:r>
              <a:t>KULIDA – AI asistent pro normy a předpisy   •   Technický návrh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Helvetica"/>
              </a:defRPr>
            </a:pPr>
            <a:r>
              <a:t>Měsíční náklady na modely (40 uživatelů)</a:t>
            </a:r>
          </a:p>
          <a:p>
            <a:pPr>
              <a:defRPr sz="1300">
                <a:solidFill>
                  <a:srgbClr val="4B5563"/>
                </a:solidFill>
                <a:latin typeface="Helvetica"/>
              </a:defRPr>
            </a:pPr>
            <a:r>
              <a:t>Cena jednoho dotazu téměř nezávisí na velikosti indexu — vychází na 0,3–0,5 Kč za dotaz.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33375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3168" y="2370582"/>
            <a:ext cx="2880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3706B"/>
                </a:solidFill>
                <a:latin typeface="Courier New"/>
              </a:defRPr>
            </a:pPr>
            <a:r>
              <a:rPr dirty="0"/>
              <a:t>NÍZKÉ VYUŽITÍ</a:t>
            </a:r>
          </a:p>
          <a:p>
            <a:pPr>
              <a:defRPr sz="2200" b="1">
                <a:solidFill>
                  <a:srgbClr val="111827"/>
                </a:solidFill>
                <a:latin typeface="Helvetica"/>
              </a:defRPr>
            </a:pPr>
            <a:r>
              <a:rPr dirty="0"/>
              <a:t>1,4 – 2,0 tis. </a:t>
            </a:r>
            <a:r>
              <a:rPr dirty="0" err="1"/>
              <a:t>Kč</a:t>
            </a:r>
            <a:endParaRPr dirty="0"/>
          </a:p>
          <a:p>
            <a:pPr>
              <a:defRPr sz="1000">
                <a:solidFill>
                  <a:srgbClr val="4B5563"/>
                </a:solidFill>
                <a:latin typeface="Courier New"/>
              </a:defRPr>
            </a:pPr>
            <a:r>
              <a:rPr dirty="0"/>
              <a:t>5 </a:t>
            </a:r>
            <a:r>
              <a:rPr dirty="0" err="1"/>
              <a:t>dotazů</a:t>
            </a:r>
            <a:r>
              <a:rPr dirty="0"/>
              <a:t> / </a:t>
            </a:r>
            <a:r>
              <a:rPr dirty="0" err="1"/>
              <a:t>os</a:t>
            </a:r>
            <a:r>
              <a:rPr dirty="0"/>
              <a:t>. / den  (4 200 </a:t>
            </a:r>
            <a:r>
              <a:rPr dirty="0" err="1"/>
              <a:t>dotazů</a:t>
            </a:r>
            <a:r>
              <a:rPr dirty="0"/>
              <a:t> / </a:t>
            </a:r>
            <a:r>
              <a:rPr dirty="0" err="1"/>
              <a:t>měsíc</a:t>
            </a:r>
            <a:r>
              <a:rPr dirty="0"/>
              <a:t>)</a:t>
            </a:r>
          </a:p>
          <a:p>
            <a:pPr>
              <a:spcBef>
                <a:spcPts val="1000"/>
              </a:spcBef>
              <a:defRPr sz="1050">
                <a:solidFill>
                  <a:srgbClr val="4B5563"/>
                </a:solidFill>
                <a:latin typeface="Helvetica"/>
              </a:defRPr>
            </a:pPr>
            <a:r>
              <a:rPr dirty="0" err="1"/>
              <a:t>Běžné</a:t>
            </a:r>
            <a:r>
              <a:rPr dirty="0"/>
              <a:t> </a:t>
            </a:r>
            <a:r>
              <a:rPr dirty="0" err="1"/>
              <a:t>občasné</a:t>
            </a:r>
            <a:r>
              <a:rPr dirty="0"/>
              <a:t> </a:t>
            </a:r>
            <a:r>
              <a:rPr dirty="0" err="1"/>
              <a:t>dohledávání</a:t>
            </a:r>
            <a:r>
              <a:rPr dirty="0"/>
              <a:t> a </a:t>
            </a:r>
            <a:r>
              <a:rPr dirty="0" err="1"/>
              <a:t>ověřování</a:t>
            </a:r>
            <a:r>
              <a:rPr dirty="0"/>
              <a:t> </a:t>
            </a:r>
            <a:r>
              <a:rPr dirty="0" err="1"/>
              <a:t>norem</a:t>
            </a:r>
            <a:r>
              <a:rPr dirty="0"/>
              <a:t> </a:t>
            </a:r>
            <a:r>
              <a:rPr dirty="0" err="1"/>
              <a:t>při</a:t>
            </a:r>
            <a:r>
              <a:rPr dirty="0"/>
              <a:t> </a:t>
            </a:r>
            <a:r>
              <a:rPr dirty="0" err="1"/>
              <a:t>projektování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965960"/>
            <a:ext cx="33375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0D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54296" y="2370582"/>
            <a:ext cx="2880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urier New"/>
              </a:defRPr>
            </a:pPr>
            <a:r>
              <a:rPr dirty="0"/>
              <a:t>STŘEDNÍ VYUŽITÍ (OČEKÁVANÉ)</a:t>
            </a:r>
          </a:p>
          <a:p>
            <a:pPr>
              <a:defRPr sz="2200" b="1">
                <a:solidFill>
                  <a:srgbClr val="111827"/>
                </a:solidFill>
                <a:latin typeface="Helvetica"/>
              </a:defRPr>
            </a:pPr>
            <a:r>
              <a:rPr dirty="0"/>
              <a:t>4,0 – 6,0 tis. </a:t>
            </a:r>
            <a:r>
              <a:rPr dirty="0" err="1"/>
              <a:t>Kč</a:t>
            </a:r>
            <a:endParaRPr dirty="0"/>
          </a:p>
          <a:p>
            <a:pPr>
              <a:defRPr sz="1000">
                <a:solidFill>
                  <a:srgbClr val="4B5563"/>
                </a:solidFill>
                <a:latin typeface="Courier New"/>
              </a:defRPr>
            </a:pPr>
            <a:r>
              <a:rPr dirty="0"/>
              <a:t>15 </a:t>
            </a:r>
            <a:r>
              <a:rPr dirty="0" err="1"/>
              <a:t>dotazů</a:t>
            </a:r>
            <a:r>
              <a:rPr dirty="0"/>
              <a:t> / </a:t>
            </a:r>
            <a:r>
              <a:rPr dirty="0" err="1"/>
              <a:t>os</a:t>
            </a:r>
            <a:r>
              <a:rPr dirty="0"/>
              <a:t>. / den  (12 600 </a:t>
            </a:r>
            <a:r>
              <a:rPr dirty="0" err="1"/>
              <a:t>dotazů</a:t>
            </a:r>
            <a:r>
              <a:rPr dirty="0"/>
              <a:t> / </a:t>
            </a:r>
            <a:r>
              <a:rPr dirty="0" err="1"/>
              <a:t>měsíc</a:t>
            </a:r>
            <a:r>
              <a:rPr dirty="0"/>
              <a:t>)</a:t>
            </a:r>
          </a:p>
          <a:p>
            <a:pPr>
              <a:spcBef>
                <a:spcPts val="1000"/>
              </a:spcBef>
              <a:defRPr sz="1050">
                <a:solidFill>
                  <a:srgbClr val="4B5563"/>
                </a:solidFill>
                <a:latin typeface="Helvetica"/>
              </a:defRPr>
            </a:pPr>
            <a:r>
              <a:rPr dirty="0" err="1"/>
              <a:t>Aktivní</a:t>
            </a:r>
            <a:r>
              <a:rPr dirty="0"/>
              <a:t> </a:t>
            </a:r>
            <a:r>
              <a:rPr dirty="0" err="1"/>
              <a:t>denní</a:t>
            </a:r>
            <a:r>
              <a:rPr dirty="0"/>
              <a:t> </a:t>
            </a:r>
            <a:r>
              <a:rPr dirty="0" err="1"/>
              <a:t>práce</a:t>
            </a:r>
            <a:r>
              <a:rPr dirty="0"/>
              <a:t> </a:t>
            </a:r>
            <a:r>
              <a:rPr dirty="0" err="1"/>
              <a:t>celého</a:t>
            </a:r>
            <a:r>
              <a:rPr dirty="0"/>
              <a:t> </a:t>
            </a:r>
            <a:r>
              <a:rPr dirty="0" err="1"/>
              <a:t>týmu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projektech</a:t>
            </a:r>
            <a:r>
              <a:rPr dirty="0"/>
              <a:t> a </a:t>
            </a:r>
            <a:r>
              <a:rPr dirty="0" err="1"/>
              <a:t>specifikacích</a:t>
            </a:r>
            <a:r>
              <a:rPr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965960"/>
            <a:ext cx="33375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48472" y="2370582"/>
            <a:ext cx="2880360" cy="1336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3706B"/>
                </a:solidFill>
                <a:latin typeface="Courier New"/>
              </a:defRPr>
            </a:pPr>
            <a:r>
              <a:rPr dirty="0"/>
              <a:t>VYSOKÉ VYUŽITÍ</a:t>
            </a:r>
          </a:p>
          <a:p>
            <a:pPr>
              <a:defRPr sz="2200" b="1">
                <a:solidFill>
                  <a:srgbClr val="111827"/>
                </a:solidFill>
                <a:latin typeface="Helvetica"/>
              </a:defRPr>
            </a:pPr>
            <a:r>
              <a:rPr dirty="0"/>
              <a:t>8,0 – 12,0 tis. </a:t>
            </a:r>
            <a:r>
              <a:rPr dirty="0" err="1"/>
              <a:t>Kč</a:t>
            </a:r>
            <a:endParaRPr dirty="0"/>
          </a:p>
          <a:p>
            <a:pPr>
              <a:defRPr sz="1000">
                <a:solidFill>
                  <a:srgbClr val="4B5563"/>
                </a:solidFill>
                <a:latin typeface="Courier New"/>
              </a:defRPr>
            </a:pPr>
            <a:r>
              <a:rPr dirty="0"/>
              <a:t>30 </a:t>
            </a:r>
            <a:r>
              <a:rPr dirty="0" err="1"/>
              <a:t>dotazů</a:t>
            </a:r>
            <a:r>
              <a:rPr dirty="0"/>
              <a:t> / </a:t>
            </a:r>
            <a:r>
              <a:rPr dirty="0" err="1"/>
              <a:t>os</a:t>
            </a:r>
            <a:r>
              <a:rPr dirty="0"/>
              <a:t>. / den  (25 200 </a:t>
            </a:r>
            <a:r>
              <a:rPr dirty="0" err="1"/>
              <a:t>dotazů</a:t>
            </a:r>
            <a:r>
              <a:rPr dirty="0"/>
              <a:t> / </a:t>
            </a:r>
            <a:r>
              <a:rPr dirty="0" err="1"/>
              <a:t>měsíc</a:t>
            </a:r>
            <a:r>
              <a:rPr dirty="0"/>
              <a:t>)</a:t>
            </a:r>
          </a:p>
          <a:p>
            <a:pPr>
              <a:spcBef>
                <a:spcPts val="1000"/>
              </a:spcBef>
              <a:defRPr sz="1050">
                <a:solidFill>
                  <a:srgbClr val="4B5563"/>
                </a:solidFill>
                <a:latin typeface="Helvetica"/>
              </a:defRPr>
            </a:pPr>
            <a:r>
              <a:rPr dirty="0" err="1"/>
              <a:t>Intenzivní</a:t>
            </a:r>
            <a:r>
              <a:rPr dirty="0"/>
              <a:t> </a:t>
            </a:r>
            <a:r>
              <a:rPr dirty="0" err="1"/>
              <a:t>projektové</a:t>
            </a:r>
            <a:r>
              <a:rPr dirty="0"/>
              <a:t> </a:t>
            </a:r>
            <a:r>
              <a:rPr dirty="0" err="1"/>
              <a:t>uzávěrky</a:t>
            </a:r>
            <a:r>
              <a:rPr dirty="0"/>
              <a:t>, </a:t>
            </a:r>
            <a:r>
              <a:rPr dirty="0" err="1"/>
              <a:t>audity</a:t>
            </a:r>
            <a:r>
              <a:rPr dirty="0"/>
              <a:t> a </a:t>
            </a:r>
            <a:r>
              <a:rPr dirty="0" err="1"/>
              <a:t>školení</a:t>
            </a:r>
            <a:r>
              <a:rPr dirty="0"/>
              <a:t> </a:t>
            </a:r>
            <a:r>
              <a:rPr dirty="0" err="1"/>
              <a:t>nových</a:t>
            </a:r>
            <a:r>
              <a:rPr dirty="0"/>
              <a:t> </a:t>
            </a:r>
            <a:r>
              <a:rPr err="1"/>
              <a:t>kolegů</a:t>
            </a:r>
            <a:r>
              <a:t>.</a:t>
            </a:r>
            <a:r>
              <a:rPr lang="en-US"/>
              <a:t>s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731520" y="5349240"/>
            <a:ext cx="10728655" cy="777240"/>
          </a:xfrm>
          <a:prstGeom prst="roundRect">
            <a:avLst/>
          </a:prstGeom>
          <a:solidFill>
            <a:srgbClr val="F4F4F0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5440680"/>
            <a:ext cx="7917552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11827"/>
                </a:solidFill>
                <a:latin typeface="Helvetica"/>
              </a:defRPr>
            </a:pPr>
            <a:r>
              <a:rPr dirty="0"/>
              <a:t>ÚSPORY DÍKY CONTEXT CACHING: 70 % </a:t>
            </a:r>
            <a:r>
              <a:rPr dirty="0" err="1"/>
              <a:t>opakovaného</a:t>
            </a:r>
            <a:r>
              <a:rPr dirty="0"/>
              <a:t> </a:t>
            </a:r>
            <a:r>
              <a:rPr dirty="0" err="1"/>
              <a:t>kontextu</a:t>
            </a:r>
            <a:r>
              <a:rPr dirty="0"/>
              <a:t> se </a:t>
            </a:r>
            <a:r>
              <a:rPr dirty="0" err="1"/>
              <a:t>čte</a:t>
            </a:r>
            <a:r>
              <a:rPr dirty="0"/>
              <a:t> z </a:t>
            </a:r>
            <a:r>
              <a:rPr dirty="0" err="1"/>
              <a:t>vyrovnávací</a:t>
            </a:r>
            <a:r>
              <a:rPr dirty="0"/>
              <a:t> </a:t>
            </a:r>
            <a:r>
              <a:rPr dirty="0" err="1"/>
              <a:t>paměti</a:t>
            </a:r>
            <a:r>
              <a:rPr dirty="0"/>
              <a:t> (cache), </a:t>
            </a:r>
            <a:r>
              <a:rPr dirty="0" err="1"/>
              <a:t>což</a:t>
            </a:r>
            <a:r>
              <a:rPr dirty="0"/>
              <a:t> </a:t>
            </a:r>
            <a:r>
              <a:rPr dirty="0" err="1"/>
              <a:t>snižuje</a:t>
            </a:r>
            <a:r>
              <a:rPr dirty="0"/>
              <a:t> </a:t>
            </a:r>
            <a:r>
              <a:rPr dirty="0" err="1"/>
              <a:t>náklady</a:t>
            </a:r>
            <a:r>
              <a:rPr dirty="0"/>
              <a:t> o 35–65 %. </a:t>
            </a:r>
            <a:endParaRPr lang="cs-CZ" dirty="0"/>
          </a:p>
          <a:p>
            <a:pPr>
              <a:defRPr sz="950" b="1">
                <a:solidFill>
                  <a:srgbClr val="111827"/>
                </a:solidFill>
                <a:latin typeface="Helvetica"/>
              </a:defRPr>
            </a:pPr>
            <a:r>
              <a:rPr dirty="0" err="1"/>
              <a:t>Drahá</a:t>
            </a:r>
            <a:r>
              <a:rPr dirty="0"/>
              <a:t> </a:t>
            </a:r>
            <a:r>
              <a:rPr dirty="0" err="1"/>
              <a:t>třída</a:t>
            </a:r>
            <a:r>
              <a:rPr dirty="0"/>
              <a:t> </a:t>
            </a:r>
            <a:r>
              <a:rPr dirty="0" err="1"/>
              <a:t>modelů</a:t>
            </a:r>
            <a:r>
              <a:rPr dirty="0"/>
              <a:t> (</a:t>
            </a:r>
            <a:r>
              <a:rPr dirty="0" err="1"/>
              <a:t>např</a:t>
            </a:r>
            <a:r>
              <a:rPr dirty="0"/>
              <a:t>. GPT-6 Sol za 27–53 tis. </a:t>
            </a:r>
            <a:r>
              <a:rPr dirty="0" err="1"/>
              <a:t>Kč</a:t>
            </a:r>
            <a:r>
              <a:rPr dirty="0"/>
              <a:t>) </a:t>
            </a:r>
            <a:r>
              <a:rPr dirty="0" err="1"/>
              <a:t>není</a:t>
            </a:r>
            <a:r>
              <a:rPr dirty="0"/>
              <a:t> pro </a:t>
            </a:r>
            <a:r>
              <a:rPr dirty="0" err="1"/>
              <a:t>tuto</a:t>
            </a:r>
            <a:r>
              <a:rPr dirty="0"/>
              <a:t> </a:t>
            </a:r>
            <a:r>
              <a:rPr dirty="0" err="1"/>
              <a:t>úlohu</a:t>
            </a:r>
            <a:r>
              <a:rPr dirty="0"/>
              <a:t> </a:t>
            </a:r>
            <a:r>
              <a:rPr dirty="0" err="1"/>
              <a:t>vůbec</a:t>
            </a:r>
            <a:r>
              <a:rPr dirty="0"/>
              <a:t> </a:t>
            </a:r>
            <a:r>
              <a:rPr dirty="0" err="1"/>
              <a:t>potřeba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3706B"/>
                </a:solidFill>
                <a:latin typeface="Courier New"/>
              </a:defRPr>
            </a:pPr>
            <a:r>
              <a:t>[ KULIDA ]   /   [ SROVNÁNÍ FÁZÍ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73706B"/>
                </a:solidFill>
                <a:latin typeface="Courier New"/>
              </a:defRPr>
            </a:pPr>
            <a:r>
              <a:t>SLIDE 11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49808"/>
            <a:ext cx="10728655" cy="13716"/>
          </a:xfrm>
          <a:prstGeom prst="rect">
            <a:avLst/>
          </a:prstGeom>
          <a:solidFill>
            <a:srgbClr val="E6E4DF"/>
          </a:solidFill>
          <a:ln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6E4DF"/>
          </a:solidFill>
          <a:ln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706B"/>
                </a:solidFill>
                <a:latin typeface="Courier New"/>
              </a:defRPr>
            </a:pPr>
            <a:r>
              <a:t>KULIDA – AI asistent pro normy a předpisy   •   Technický návrh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Helvetica"/>
              </a:defRPr>
            </a:pPr>
            <a:r>
              <a:t>Srovnání: Pilotní projekt vs. Plný provoz</a:t>
            </a:r>
          </a:p>
          <a:p>
            <a:pPr>
              <a:defRPr sz="1300">
                <a:solidFill>
                  <a:srgbClr val="4B5563"/>
                </a:solidFill>
                <a:latin typeface="Helvetica"/>
              </a:defRPr>
            </a:pPr>
            <a:r>
              <a:t>Začněte s nulovým rizikem a ověřením kvality před finálním rozhodnutím.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AD04906-C1EE-0D7C-BA9E-00D8490D2248}"/>
              </a:ext>
            </a:extLst>
          </p:cNvPr>
          <p:cNvGrpSpPr/>
          <p:nvPr/>
        </p:nvGrpSpPr>
        <p:grpSpPr>
          <a:xfrm>
            <a:off x="731826" y="2298710"/>
            <a:ext cx="5242255" cy="3291840"/>
            <a:chOff x="731520" y="1965960"/>
            <a:chExt cx="5242255" cy="3291840"/>
          </a:xfrm>
        </p:grpSpPr>
        <p:sp>
          <p:nvSpPr>
            <p:cNvPr id="9" name="Rounded Rectangle 8"/>
            <p:cNvSpPr/>
            <p:nvPr/>
          </p:nvSpPr>
          <p:spPr>
            <a:xfrm>
              <a:off x="731520" y="1965960"/>
              <a:ext cx="5242255" cy="329184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6E4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005839" y="2628277"/>
              <a:ext cx="4693615" cy="19672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 b="1">
                  <a:solidFill>
                    <a:srgbClr val="73706B"/>
                  </a:solidFill>
                  <a:latin typeface="Courier New"/>
                </a:defRPr>
              </a:pPr>
              <a:r>
                <a:rPr dirty="0"/>
                <a:t>PILOTNÍ PROVOZ (100–200 NOREM)</a:t>
              </a:r>
            </a:p>
            <a:p>
              <a:pPr>
                <a:defRPr sz="1800" b="1">
                  <a:solidFill>
                    <a:srgbClr val="111827"/>
                  </a:solidFill>
                  <a:latin typeface="Helvetica"/>
                </a:defRPr>
              </a:pPr>
              <a:r>
                <a:rPr dirty="0" err="1"/>
                <a:t>Ověření</a:t>
              </a:r>
              <a:r>
                <a:rPr dirty="0"/>
                <a:t> </a:t>
              </a:r>
              <a:r>
                <a:rPr dirty="0" err="1"/>
                <a:t>na</a:t>
              </a:r>
              <a:r>
                <a:rPr dirty="0"/>
                <a:t> </a:t>
              </a:r>
              <a:r>
                <a:rPr dirty="0" err="1"/>
                <a:t>reálných</a:t>
              </a:r>
              <a:r>
                <a:rPr dirty="0"/>
                <a:t> </a:t>
              </a:r>
              <a:r>
                <a:rPr dirty="0" err="1"/>
                <a:t>datech</a:t>
              </a:r>
              <a:endParaRPr lang="cs-CZ" dirty="0"/>
            </a:p>
            <a:p>
              <a:pPr>
                <a:defRPr sz="1800" b="1">
                  <a:solidFill>
                    <a:srgbClr val="111827"/>
                  </a:solidFill>
                  <a:latin typeface="Helvetica"/>
                </a:defRPr>
              </a:pPr>
              <a:endParaRPr dirty="0"/>
            </a:p>
            <a:p>
              <a:pPr>
                <a:spcBef>
                  <a:spcPts val="500"/>
                </a:spcBef>
                <a:defRPr sz="1100">
                  <a:solidFill>
                    <a:srgbClr val="111827"/>
                  </a:solidFill>
                  <a:latin typeface="Helvetica"/>
                </a:defRPr>
              </a:pPr>
              <a:r>
                <a:rPr dirty="0"/>
                <a:t>• </a:t>
              </a:r>
              <a:r>
                <a:rPr dirty="0" err="1"/>
                <a:t>Rozsah</a:t>
              </a:r>
              <a:r>
                <a:rPr dirty="0"/>
                <a:t>: 6</a:t>
              </a:r>
              <a:r>
                <a:rPr lang="cs-CZ" dirty="0"/>
                <a:t> </a:t>
              </a:r>
              <a:r>
                <a:rPr dirty="0"/>
                <a:t>–</a:t>
              </a:r>
              <a:r>
                <a:rPr lang="cs-CZ" dirty="0"/>
                <a:t> </a:t>
              </a:r>
              <a:r>
                <a:rPr dirty="0"/>
                <a:t>12 </a:t>
              </a:r>
              <a:r>
                <a:rPr dirty="0" err="1"/>
                <a:t>tisíc</a:t>
              </a:r>
              <a:r>
                <a:rPr dirty="0"/>
                <a:t> </a:t>
              </a:r>
              <a:r>
                <a:rPr dirty="0" err="1"/>
                <a:t>stran</a:t>
              </a:r>
              <a:r>
                <a:rPr dirty="0"/>
                <a:t> (</a:t>
              </a:r>
              <a:r>
                <a:rPr dirty="0" err="1"/>
                <a:t>nejpoužívanější</a:t>
              </a:r>
              <a:r>
                <a:rPr dirty="0"/>
                <a:t> </a:t>
              </a:r>
              <a:r>
                <a:rPr dirty="0" err="1"/>
                <a:t>normy</a:t>
              </a:r>
              <a:r>
                <a:rPr dirty="0"/>
                <a:t>)</a:t>
              </a:r>
            </a:p>
            <a:p>
              <a:pPr>
                <a:spcBef>
                  <a:spcPts val="500"/>
                </a:spcBef>
                <a:defRPr sz="1100">
                  <a:solidFill>
                    <a:srgbClr val="111827"/>
                  </a:solidFill>
                  <a:latin typeface="Helvetica"/>
                </a:defRPr>
              </a:pPr>
              <a:r>
                <a:rPr dirty="0"/>
                <a:t>• Hardware </a:t>
              </a:r>
              <a:r>
                <a:rPr dirty="0" err="1"/>
                <a:t>jednorázově</a:t>
              </a:r>
              <a:r>
                <a:rPr dirty="0"/>
                <a:t>: 0 </a:t>
              </a:r>
              <a:r>
                <a:rPr dirty="0" err="1"/>
                <a:t>Kč</a:t>
              </a:r>
              <a:r>
                <a:rPr dirty="0"/>
                <a:t> (</a:t>
              </a:r>
              <a:r>
                <a:rPr dirty="0" err="1"/>
                <a:t>stávající</a:t>
              </a:r>
              <a:r>
                <a:rPr dirty="0"/>
                <a:t> </a:t>
              </a:r>
              <a:r>
                <a:rPr dirty="0" err="1"/>
                <a:t>virtualizace</a:t>
              </a:r>
              <a:r>
                <a:rPr dirty="0"/>
                <a:t>)</a:t>
              </a:r>
            </a:p>
            <a:p>
              <a:pPr>
                <a:spcBef>
                  <a:spcPts val="500"/>
                </a:spcBef>
                <a:defRPr sz="1100">
                  <a:solidFill>
                    <a:srgbClr val="111827"/>
                  </a:solidFill>
                  <a:latin typeface="Helvetica"/>
                </a:defRPr>
              </a:pPr>
              <a:r>
                <a:rPr dirty="0"/>
                <a:t>• Server </a:t>
              </a:r>
              <a:r>
                <a:rPr dirty="0" err="1"/>
                <a:t>měsíčně</a:t>
              </a:r>
              <a:r>
                <a:rPr dirty="0"/>
                <a:t>: 0 </a:t>
              </a:r>
              <a:r>
                <a:rPr dirty="0" err="1"/>
                <a:t>Kč</a:t>
              </a:r>
              <a:r>
                <a:rPr dirty="0"/>
                <a:t> (</a:t>
              </a:r>
              <a:r>
                <a:rPr dirty="0" err="1"/>
                <a:t>na</a:t>
              </a:r>
              <a:r>
                <a:rPr dirty="0"/>
                <a:t> </a:t>
              </a:r>
              <a:r>
                <a:rPr dirty="0" err="1"/>
                <a:t>vaší</a:t>
              </a:r>
              <a:r>
                <a:rPr dirty="0"/>
                <a:t> </a:t>
              </a:r>
              <a:r>
                <a:rPr dirty="0" err="1"/>
                <a:t>virtualizaci</a:t>
              </a:r>
              <a:r>
                <a:rPr dirty="0"/>
                <a:t>)</a:t>
              </a:r>
            </a:p>
            <a:p>
              <a:pPr>
                <a:spcBef>
                  <a:spcPts val="500"/>
                </a:spcBef>
                <a:defRPr sz="1100">
                  <a:solidFill>
                    <a:srgbClr val="111827"/>
                  </a:solidFill>
                  <a:latin typeface="Helvetica"/>
                </a:defRPr>
              </a:pPr>
              <a:r>
                <a:rPr dirty="0"/>
                <a:t>• </a:t>
              </a:r>
              <a:r>
                <a:rPr dirty="0" err="1"/>
                <a:t>Modely</a:t>
              </a:r>
              <a:r>
                <a:rPr dirty="0"/>
                <a:t> </a:t>
              </a:r>
              <a:r>
                <a:rPr dirty="0" err="1"/>
                <a:t>měsíčně</a:t>
              </a:r>
              <a:r>
                <a:rPr dirty="0"/>
                <a:t>: 4,5</a:t>
              </a:r>
              <a:r>
                <a:rPr lang="cs-CZ" dirty="0"/>
                <a:t> </a:t>
              </a:r>
              <a:r>
                <a:rPr dirty="0"/>
                <a:t>–</a:t>
              </a:r>
              <a:r>
                <a:rPr lang="cs-CZ" dirty="0"/>
                <a:t> </a:t>
              </a:r>
              <a:r>
                <a:rPr dirty="0"/>
                <a:t>6,3 tis. </a:t>
              </a:r>
              <a:r>
                <a:rPr dirty="0" err="1"/>
                <a:t>Kč</a:t>
              </a:r>
              <a:r>
                <a:rPr dirty="0"/>
                <a:t> (</a:t>
              </a:r>
              <a:r>
                <a:rPr dirty="0" err="1"/>
                <a:t>střední</a:t>
              </a:r>
              <a:r>
                <a:rPr dirty="0"/>
                <a:t> </a:t>
              </a:r>
              <a:r>
                <a:rPr dirty="0" err="1"/>
                <a:t>využití</a:t>
              </a:r>
              <a:r>
                <a:rPr dirty="0"/>
                <a:t> 40 </a:t>
              </a:r>
              <a:r>
                <a:rPr dirty="0" err="1"/>
                <a:t>lidí</a:t>
              </a:r>
              <a:r>
                <a:rPr dirty="0"/>
                <a:t>)</a:t>
              </a:r>
            </a:p>
            <a:p>
              <a:pPr>
                <a:spcBef>
                  <a:spcPts val="500"/>
                </a:spcBef>
                <a:defRPr sz="1100">
                  <a:solidFill>
                    <a:srgbClr val="111827"/>
                  </a:solidFill>
                  <a:latin typeface="Helvetica"/>
                </a:defRPr>
              </a:pPr>
              <a:r>
                <a:rPr dirty="0"/>
                <a:t>• Cena za </a:t>
              </a:r>
              <a:r>
                <a:rPr dirty="0" err="1"/>
                <a:t>dotaz</a:t>
              </a:r>
              <a:r>
                <a:rPr dirty="0"/>
                <a:t>: 0,36</a:t>
              </a:r>
              <a:r>
                <a:rPr lang="cs-CZ" dirty="0"/>
                <a:t> </a:t>
              </a:r>
              <a:r>
                <a:rPr dirty="0"/>
                <a:t>–</a:t>
              </a:r>
              <a:r>
                <a:rPr lang="cs-CZ" dirty="0"/>
                <a:t> </a:t>
              </a:r>
              <a:r>
                <a:rPr dirty="0"/>
                <a:t>0,50 </a:t>
              </a:r>
              <a:r>
                <a:rPr dirty="0" err="1"/>
                <a:t>Kč</a:t>
              </a:r>
              <a:endParaRPr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5C92D6-ED8F-0EAC-B0A4-AF69C44E1862}"/>
              </a:ext>
            </a:extLst>
          </p:cNvPr>
          <p:cNvGrpSpPr/>
          <p:nvPr/>
        </p:nvGrpSpPr>
        <p:grpSpPr>
          <a:xfrm>
            <a:off x="6217921" y="2298710"/>
            <a:ext cx="5242255" cy="3291840"/>
            <a:chOff x="6217920" y="1965960"/>
            <a:chExt cx="5242255" cy="3291840"/>
          </a:xfrm>
        </p:grpSpPr>
        <p:sp>
          <p:nvSpPr>
            <p:cNvPr id="11" name="Rounded Rectangle 10"/>
            <p:cNvSpPr/>
            <p:nvPr/>
          </p:nvSpPr>
          <p:spPr>
            <a:xfrm>
              <a:off x="6217920" y="1965960"/>
              <a:ext cx="5242255" cy="329184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0D0D0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492239" y="2628277"/>
              <a:ext cx="4693615" cy="1733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 b="1">
                  <a:solidFill>
                    <a:srgbClr val="10B981"/>
                  </a:solidFill>
                  <a:latin typeface="Courier New"/>
                </a:defRPr>
              </a:pPr>
              <a:r>
                <a:rPr dirty="0"/>
                <a:t>PLNÝ PROVOZ (CELÁ FIREMNÍ KNIHOVNA)</a:t>
              </a:r>
            </a:p>
            <a:p>
              <a:pPr>
                <a:defRPr sz="1800" b="1">
                  <a:solidFill>
                    <a:srgbClr val="111827"/>
                  </a:solidFill>
                  <a:latin typeface="Helvetica"/>
                </a:defRPr>
              </a:pPr>
              <a:r>
                <a:rPr dirty="0" err="1"/>
                <a:t>Dlouhodobý</a:t>
              </a:r>
              <a:r>
                <a:rPr dirty="0"/>
                <a:t> </a:t>
              </a:r>
              <a:r>
                <a:rPr dirty="0" err="1"/>
                <a:t>produkční</a:t>
              </a:r>
              <a:r>
                <a:rPr dirty="0"/>
                <a:t> syst</a:t>
              </a:r>
              <a:r>
                <a:rPr lang="en-US" dirty="0"/>
                <a:t>e</a:t>
              </a:r>
              <a:r>
                <a:rPr dirty="0"/>
                <a:t>m</a:t>
              </a:r>
              <a:endParaRPr lang="cs-CZ" dirty="0"/>
            </a:p>
            <a:p>
              <a:pPr>
                <a:defRPr sz="1800" b="1">
                  <a:solidFill>
                    <a:srgbClr val="111827"/>
                  </a:solidFill>
                  <a:latin typeface="Helvetica"/>
                </a:defRPr>
              </a:pPr>
              <a:endParaRPr dirty="0"/>
            </a:p>
            <a:p>
              <a:pPr>
                <a:spcBef>
                  <a:spcPts val="500"/>
                </a:spcBef>
                <a:defRPr sz="1100">
                  <a:solidFill>
                    <a:srgbClr val="111827"/>
                  </a:solidFill>
                  <a:latin typeface="Helvetica"/>
                </a:defRPr>
              </a:pPr>
              <a:r>
                <a:rPr dirty="0"/>
                <a:t>• </a:t>
              </a:r>
              <a:r>
                <a:rPr dirty="0" err="1"/>
                <a:t>Rozsah</a:t>
              </a:r>
              <a:r>
                <a:rPr dirty="0"/>
                <a:t>: </a:t>
              </a:r>
              <a:r>
                <a:rPr dirty="0" err="1"/>
                <a:t>cca</a:t>
              </a:r>
              <a:r>
                <a:rPr dirty="0"/>
                <a:t> 200 </a:t>
              </a:r>
              <a:r>
                <a:rPr dirty="0" err="1"/>
                <a:t>tisíc</a:t>
              </a:r>
              <a:r>
                <a:rPr dirty="0"/>
                <a:t> </a:t>
              </a:r>
              <a:r>
                <a:rPr dirty="0" err="1"/>
                <a:t>stran</a:t>
              </a:r>
              <a:r>
                <a:rPr dirty="0"/>
                <a:t> </a:t>
              </a:r>
              <a:r>
                <a:rPr dirty="0" err="1"/>
                <a:t>norem</a:t>
              </a:r>
              <a:r>
                <a:rPr dirty="0"/>
                <a:t> a </a:t>
              </a:r>
              <a:r>
                <a:rPr dirty="0" err="1"/>
                <a:t>legislativy</a:t>
              </a:r>
              <a:endParaRPr dirty="0"/>
            </a:p>
            <a:p>
              <a:pPr>
                <a:spcBef>
                  <a:spcPts val="500"/>
                </a:spcBef>
                <a:defRPr sz="1100">
                  <a:solidFill>
                    <a:srgbClr val="111827"/>
                  </a:solidFill>
                  <a:latin typeface="Helvetica"/>
                </a:defRPr>
              </a:pPr>
              <a:r>
                <a:rPr dirty="0"/>
                <a:t>• Hardware </a:t>
              </a:r>
              <a:r>
                <a:rPr dirty="0" err="1"/>
                <a:t>jednorázově</a:t>
              </a:r>
              <a:r>
                <a:rPr dirty="0"/>
                <a:t>: </a:t>
              </a:r>
              <a:r>
                <a:rPr dirty="0" err="1"/>
                <a:t>vlastní</a:t>
              </a:r>
              <a:r>
                <a:rPr dirty="0"/>
                <a:t> server 100</a:t>
              </a:r>
              <a:r>
                <a:rPr lang="cs-CZ" dirty="0"/>
                <a:t> </a:t>
              </a:r>
              <a:r>
                <a:rPr dirty="0"/>
                <a:t>–</a:t>
              </a:r>
              <a:r>
                <a:rPr lang="cs-CZ" dirty="0"/>
                <a:t> </a:t>
              </a:r>
              <a:r>
                <a:rPr dirty="0"/>
                <a:t>150 tis. </a:t>
              </a:r>
              <a:r>
                <a:rPr dirty="0" err="1"/>
                <a:t>Kč</a:t>
              </a:r>
              <a:endParaRPr lang="cs-CZ" dirty="0"/>
            </a:p>
            <a:p>
              <a:pPr>
                <a:spcBef>
                  <a:spcPts val="500"/>
                </a:spcBef>
                <a:defRPr sz="1100">
                  <a:solidFill>
                    <a:srgbClr val="111827"/>
                  </a:solidFill>
                  <a:latin typeface="Helvetica"/>
                </a:defRPr>
              </a:pPr>
              <a:r>
                <a:rPr dirty="0"/>
                <a:t>• </a:t>
              </a:r>
              <a:r>
                <a:rPr dirty="0" err="1"/>
                <a:t>Modely</a:t>
              </a:r>
              <a:r>
                <a:rPr dirty="0"/>
                <a:t> </a:t>
              </a:r>
              <a:r>
                <a:rPr dirty="0" err="1"/>
                <a:t>měsíčně</a:t>
              </a:r>
              <a:r>
                <a:rPr dirty="0"/>
                <a:t>: 4,0</a:t>
              </a:r>
              <a:r>
                <a:rPr lang="cs-CZ" dirty="0"/>
                <a:t> </a:t>
              </a:r>
              <a:r>
                <a:rPr dirty="0"/>
                <a:t>–</a:t>
              </a:r>
              <a:r>
                <a:rPr lang="cs-CZ" dirty="0"/>
                <a:t> </a:t>
              </a:r>
              <a:r>
                <a:rPr dirty="0"/>
                <a:t>6,0 tis. </a:t>
              </a:r>
              <a:r>
                <a:rPr dirty="0" err="1"/>
                <a:t>Kč</a:t>
              </a:r>
              <a:r>
                <a:rPr dirty="0"/>
                <a:t> (</a:t>
              </a:r>
              <a:r>
                <a:rPr dirty="0" err="1"/>
                <a:t>střední</a:t>
              </a:r>
              <a:r>
                <a:rPr dirty="0"/>
                <a:t> </a:t>
              </a:r>
              <a:r>
                <a:rPr dirty="0" err="1"/>
                <a:t>využití</a:t>
              </a:r>
              <a:r>
                <a:rPr dirty="0"/>
                <a:t>)</a:t>
              </a:r>
            </a:p>
            <a:p>
              <a:pPr>
                <a:spcBef>
                  <a:spcPts val="500"/>
                </a:spcBef>
                <a:defRPr sz="1100">
                  <a:solidFill>
                    <a:srgbClr val="111827"/>
                  </a:solidFill>
                  <a:latin typeface="Helvetica"/>
                </a:defRPr>
              </a:pPr>
              <a:r>
                <a:rPr dirty="0"/>
                <a:t>• Cena za </a:t>
              </a:r>
              <a:r>
                <a:rPr dirty="0" err="1"/>
                <a:t>dotaz</a:t>
              </a:r>
              <a:r>
                <a:rPr dirty="0"/>
                <a:t>: 0,32</a:t>
              </a:r>
              <a:r>
                <a:rPr lang="cs-CZ" dirty="0"/>
                <a:t> </a:t>
              </a:r>
              <a:r>
                <a:rPr dirty="0"/>
                <a:t>–</a:t>
              </a:r>
              <a:r>
                <a:rPr lang="cs-CZ" dirty="0"/>
                <a:t> </a:t>
              </a:r>
              <a:r>
                <a:rPr dirty="0"/>
                <a:t>0,46 </a:t>
              </a:r>
              <a:r>
                <a:rPr dirty="0" err="1"/>
                <a:t>Kč</a:t>
              </a:r>
              <a:endParaRPr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3706B"/>
                </a:solidFill>
                <a:latin typeface="Courier New"/>
              </a:defRPr>
            </a:pPr>
            <a:r>
              <a:t>[ KULIDA ]   /   [ KLÍČOVÁ ROZHODNUTÍ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73706B"/>
                </a:solidFill>
                <a:latin typeface="Courier New"/>
              </a:defRPr>
            </a:pPr>
            <a:r>
              <a:t>SLIDE 12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49808"/>
            <a:ext cx="10728655" cy="13716"/>
          </a:xfrm>
          <a:prstGeom prst="rect">
            <a:avLst/>
          </a:prstGeom>
          <a:solidFill>
            <a:srgbClr val="E6E4DF"/>
          </a:solidFill>
          <a:ln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6E4DF"/>
          </a:solidFill>
          <a:ln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706B"/>
                </a:solidFill>
                <a:latin typeface="Courier New"/>
              </a:defRPr>
            </a:pPr>
            <a:r>
              <a:t>KULIDA – AI asistent pro normy a předpisy   •   Technický návrh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Helvetica"/>
              </a:defRPr>
            </a:pPr>
            <a:r>
              <a:t>Na co je potřeba myslet &amp; Další kroky</a:t>
            </a:r>
          </a:p>
          <a:p>
            <a:pPr>
              <a:defRPr sz="1300">
                <a:solidFill>
                  <a:srgbClr val="4B5563"/>
                </a:solidFill>
                <a:latin typeface="Helvetica"/>
              </a:defRPr>
            </a:pPr>
            <a:r>
              <a:t>Doporučení před zahájením a strategická rozhodnutí pro úspěšné nasazení.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524225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46936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urier New"/>
              </a:defRPr>
            </a:pPr>
            <a:r>
              <a:rPr dirty="0"/>
              <a:t>KDE SE DATA ZPRACUJÍ</a:t>
            </a:r>
          </a:p>
          <a:p>
            <a:pPr>
              <a:defRPr sz="1500" b="1">
                <a:solidFill>
                  <a:srgbClr val="111827"/>
                </a:solidFill>
                <a:latin typeface="Helvetica"/>
              </a:defRPr>
            </a:pPr>
            <a:r>
              <a:rPr dirty="0" err="1"/>
              <a:t>Lokalita</a:t>
            </a:r>
            <a:r>
              <a:rPr dirty="0"/>
              <a:t> a GDPR</a:t>
            </a:r>
          </a:p>
          <a:p>
            <a:pPr>
              <a:spcBef>
                <a:spcPts val="400"/>
              </a:spcBef>
              <a:defRPr sz="1050">
                <a:solidFill>
                  <a:srgbClr val="4B5563"/>
                </a:solidFill>
                <a:latin typeface="Helvetica"/>
              </a:defRPr>
            </a:pPr>
            <a:r>
              <a:rPr dirty="0" err="1"/>
              <a:t>Dokumenty</a:t>
            </a:r>
            <a:r>
              <a:rPr dirty="0"/>
              <a:t> </a:t>
            </a:r>
            <a:r>
              <a:rPr dirty="0" err="1"/>
              <a:t>zůstávají</a:t>
            </a:r>
            <a:r>
              <a:rPr dirty="0"/>
              <a:t> u </a:t>
            </a:r>
            <a:r>
              <a:rPr dirty="0" err="1"/>
              <a:t>vás</a:t>
            </a:r>
            <a:r>
              <a:rPr dirty="0"/>
              <a:t>. K </a:t>
            </a:r>
            <a:r>
              <a:rPr dirty="0" err="1"/>
              <a:t>modelu</a:t>
            </a:r>
            <a:r>
              <a:rPr dirty="0"/>
              <a:t> </a:t>
            </a:r>
            <a:r>
              <a:rPr dirty="0" err="1"/>
              <a:t>odchází</a:t>
            </a:r>
            <a:r>
              <a:rPr dirty="0"/>
              <a:t> </a:t>
            </a:r>
            <a:r>
              <a:rPr dirty="0" err="1"/>
              <a:t>jen</a:t>
            </a:r>
            <a:r>
              <a:rPr dirty="0"/>
              <a:t> </a:t>
            </a:r>
            <a:r>
              <a:rPr dirty="0" err="1"/>
              <a:t>dotaz</a:t>
            </a:r>
            <a:r>
              <a:rPr dirty="0"/>
              <a:t>. </a:t>
            </a:r>
            <a:r>
              <a:rPr dirty="0" err="1"/>
              <a:t>Pokud</a:t>
            </a:r>
            <a:r>
              <a:rPr dirty="0"/>
              <a:t> je </a:t>
            </a:r>
            <a:r>
              <a:rPr dirty="0" err="1"/>
              <a:t>podmínkou</a:t>
            </a:r>
            <a:r>
              <a:rPr dirty="0"/>
              <a:t> </a:t>
            </a:r>
            <a:r>
              <a:rPr dirty="0" err="1"/>
              <a:t>zpracování</a:t>
            </a:r>
            <a:r>
              <a:rPr dirty="0"/>
              <a:t> </a:t>
            </a:r>
            <a:r>
              <a:rPr dirty="0" err="1"/>
              <a:t>výhradně</a:t>
            </a:r>
            <a:r>
              <a:rPr dirty="0"/>
              <a:t> v EU, </a:t>
            </a:r>
            <a:r>
              <a:rPr dirty="0" err="1"/>
              <a:t>vybereme</a:t>
            </a:r>
            <a:r>
              <a:rPr dirty="0"/>
              <a:t> EU model (</a:t>
            </a:r>
            <a:r>
              <a:rPr dirty="0" err="1"/>
              <a:t>např</a:t>
            </a:r>
            <a:r>
              <a:rPr dirty="0"/>
              <a:t>. Azure </a:t>
            </a:r>
            <a:r>
              <a:rPr dirty="0" err="1"/>
              <a:t>Švédsko</a:t>
            </a:r>
            <a:r>
              <a:rPr dirty="0"/>
              <a:t> / AWS Frankfurt).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24225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46936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urier New"/>
              </a:defRPr>
            </a:pPr>
            <a:r>
              <a:t>NEZÁVISLOST NA MODELU</a:t>
            </a:r>
          </a:p>
          <a:p>
            <a:pPr>
              <a:defRPr sz="1500" b="1">
                <a:solidFill>
                  <a:srgbClr val="111827"/>
                </a:solidFill>
                <a:latin typeface="Helvetica"/>
              </a:defRPr>
            </a:pPr>
            <a:r>
              <a:t>Budoucnost bez lock-inu</a:t>
            </a:r>
          </a:p>
          <a:p>
            <a:pPr>
              <a:spcBef>
                <a:spcPts val="400"/>
              </a:spcBef>
              <a:defRPr sz="1050">
                <a:solidFill>
                  <a:srgbClr val="4B5563"/>
                </a:solidFill>
                <a:latin typeface="Helvetica"/>
              </a:defRPr>
            </a:pPr>
            <a:r>
              <a:t>Poskytovatelé modely průběžně obměňují. Systém není vázán na jednoho dodavatele: přechod na novější model je pouhá změna konfigurace.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24225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46936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urier New"/>
              </a:defRPr>
            </a:pPr>
            <a:r>
              <a:t>KVALITA SE MĚŘÍ</a:t>
            </a:r>
          </a:p>
          <a:p>
            <a:pPr>
              <a:defRPr sz="1500" b="1">
                <a:solidFill>
                  <a:srgbClr val="111827"/>
                </a:solidFill>
                <a:latin typeface="Helvetica"/>
              </a:defRPr>
            </a:pPr>
            <a:r>
              <a:t>Evaluační sada dotazů</a:t>
            </a:r>
          </a:p>
          <a:p>
            <a:pPr>
              <a:spcBef>
                <a:spcPts val="400"/>
              </a:spcBef>
              <a:defRPr sz="1050">
                <a:solidFill>
                  <a:srgbClr val="4B5563"/>
                </a:solidFill>
                <a:latin typeface="Helvetica"/>
              </a:defRPr>
            </a:pPr>
            <a:r>
              <a:t>Před spuštěním ověříme asistenta na sadě vašich skutečných dotazů se známou správnou odpovědí. Za provozu sledujeme průběžné hodnocení inženýrů.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23360"/>
            <a:ext cx="524225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4206240"/>
            <a:ext cx="4693615" cy="843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urier New"/>
              </a:defRPr>
            </a:pPr>
            <a:r>
              <a:rPr dirty="0"/>
              <a:t>SPRÁVA A AKTUALIZACE</a:t>
            </a:r>
          </a:p>
          <a:p>
            <a:pPr>
              <a:defRPr sz="1500" b="1">
                <a:solidFill>
                  <a:srgbClr val="111827"/>
                </a:solidFill>
                <a:latin typeface="Helvetica"/>
              </a:defRPr>
            </a:pPr>
            <a:r>
              <a:rPr dirty="0" err="1"/>
              <a:t>Pravidelná</a:t>
            </a:r>
            <a:r>
              <a:rPr dirty="0"/>
              <a:t> </a:t>
            </a:r>
            <a:r>
              <a:rPr dirty="0" err="1"/>
              <a:t>údržba</a:t>
            </a:r>
            <a:r>
              <a:rPr dirty="0"/>
              <a:t> </a:t>
            </a:r>
            <a:r>
              <a:rPr dirty="0" err="1"/>
              <a:t>norem</a:t>
            </a:r>
            <a:endParaRPr dirty="0"/>
          </a:p>
          <a:p>
            <a:pPr>
              <a:spcBef>
                <a:spcPts val="400"/>
              </a:spcBef>
              <a:defRPr sz="1050">
                <a:solidFill>
                  <a:srgbClr val="4B5563"/>
                </a:solidFill>
                <a:latin typeface="Helvetica"/>
              </a:defRPr>
            </a:pPr>
            <a:r>
              <a:rPr dirty="0"/>
              <a:t>Normy se </a:t>
            </a:r>
            <a:r>
              <a:rPr dirty="0" err="1"/>
              <a:t>mění</a:t>
            </a:r>
            <a:r>
              <a:rPr dirty="0"/>
              <a:t> </a:t>
            </a:r>
            <a:r>
              <a:rPr dirty="0" err="1"/>
              <a:t>každý</a:t>
            </a:r>
            <a:r>
              <a:rPr dirty="0"/>
              <a:t> </a:t>
            </a:r>
            <a:r>
              <a:rPr dirty="0" err="1"/>
              <a:t>měsíc</a:t>
            </a:r>
            <a:r>
              <a:rPr dirty="0"/>
              <a:t>. </a:t>
            </a:r>
            <a:r>
              <a:rPr lang="cs-CZ" dirty="0"/>
              <a:t>V s</a:t>
            </a:r>
            <a:r>
              <a:rPr dirty="0" err="1"/>
              <a:t>ystém</a:t>
            </a:r>
            <a:r>
              <a:rPr lang="cs-CZ" dirty="0"/>
              <a:t>u je</a:t>
            </a:r>
            <a:r>
              <a:rPr dirty="0"/>
              <a:t> </a:t>
            </a:r>
            <a:r>
              <a:rPr dirty="0" err="1"/>
              <a:t>novely</a:t>
            </a:r>
            <a:r>
              <a:rPr dirty="0"/>
              <a:t> </a:t>
            </a:r>
            <a:r>
              <a:rPr lang="cs-CZ" dirty="0"/>
              <a:t>možno aktualizovat a </a:t>
            </a:r>
            <a:r>
              <a:rPr lang="cs-CZ" dirty="0" err="1"/>
              <a:t>verzovat</a:t>
            </a:r>
            <a:r>
              <a:rPr lang="cs-CZ" dirty="0"/>
              <a:t>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2648</Words>
  <Application>Microsoft Macintosh PowerPoint</Application>
  <PresentationFormat>Widescreen</PresentationFormat>
  <Paragraphs>296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Adam Libra</cp:lastModifiedBy>
  <cp:revision>11</cp:revision>
  <dcterms:created xsi:type="dcterms:W3CDTF">2013-01-27T09:14:16Z</dcterms:created>
  <dcterms:modified xsi:type="dcterms:W3CDTF">2026-10-11T17:33:46Z</dcterms:modified>
  <cp:category/>
</cp:coreProperties>
</file>